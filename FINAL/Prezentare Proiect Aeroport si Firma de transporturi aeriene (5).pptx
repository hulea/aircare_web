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1"/>
  </p:sldMasterIdLst>
  <p:sldIdLst>
    <p:sldId id="256" r:id="rId2"/>
    <p:sldId id="267" r:id="rId3"/>
    <p:sldId id="271" r:id="rId4"/>
    <p:sldId id="272" r:id="rId5"/>
    <p:sldId id="273" r:id="rId6"/>
    <p:sldId id="274" r:id="rId7"/>
    <p:sldId id="275" r:id="rId8"/>
    <p:sldId id="276" r:id="rId9"/>
    <p:sldId id="266" r:id="rId10"/>
    <p:sldId id="268" r:id="rId11"/>
    <p:sldId id="269" r:id="rId12"/>
    <p:sldId id="257" r:id="rId13"/>
    <p:sldId id="258" r:id="rId14"/>
    <p:sldId id="259" r:id="rId15"/>
    <p:sldId id="260" r:id="rId16"/>
    <p:sldId id="261" r:id="rId17"/>
    <p:sldId id="262" r:id="rId18"/>
    <p:sldId id="263" r:id="rId19"/>
    <p:sldId id="264" r:id="rId20"/>
    <p:sldId id="265" r:id="rId21"/>
    <p:sldId id="270" r:id="rId22"/>
    <p:sldId id="278" r:id="rId23"/>
    <p:sldId id="277"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597689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1740247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3421663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9B4204-373D-42D1-A92E-EDDD943A2D19}" type="datetimeFigureOut">
              <a:rPr lang="en-US" smtClean="0"/>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10912916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9B4204-373D-42D1-A92E-EDDD943A2D19}" type="datetimeFigureOut">
              <a:rPr lang="en-US" smtClean="0"/>
              <a:t>12/3/2020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426884483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9B4204-373D-42D1-A92E-EDDD943A2D19}" type="datetimeFigureOut">
              <a:rPr lang="en-US" smtClean="0"/>
              <a:t>12/3/2020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192652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9B4204-373D-42D1-A92E-EDDD943A2D19}" type="datetimeFigureOut">
              <a:rPr lang="en-US" smtClean="0"/>
              <a:t>12/3/2020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2691247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9B4204-373D-42D1-A92E-EDDD943A2D19}" type="datetimeFigureOut">
              <a:rPr lang="en-US" smtClean="0"/>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129702036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9B4204-373D-42D1-A92E-EDDD943A2D19}" type="datetimeFigureOut">
              <a:rPr lang="en-US" smtClean="0"/>
              <a:t>12/3/2020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801710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4293308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13710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12537610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6406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26148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4629209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B4204-373D-42D1-A92E-EDDD943A2D19}" type="datetimeFigureOut">
              <a:rPr lang="en-US" smtClean="0"/>
              <a:t>12/3/2020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2B8CA-86B8-49EC-9824-D91521F245A0}" type="slidenum">
              <a:rPr lang="en-US" smtClean="0"/>
              <a:t>‹#›</a:t>
            </a:fld>
            <a:endParaRPr lang="en-US"/>
          </a:p>
        </p:txBody>
      </p:sp>
    </p:spTree>
    <p:extLst>
      <p:ext uri="{BB962C8B-B14F-4D97-AF65-F5344CB8AC3E}">
        <p14:creationId xmlns:p14="http://schemas.microsoft.com/office/powerpoint/2010/main" val="2407188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29B4204-373D-42D1-A92E-EDDD943A2D19}" type="datetimeFigureOut">
              <a:rPr lang="en-US" smtClean="0"/>
              <a:t>12/3/2020</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0E2B8CA-86B8-49EC-9824-D91521F245A0}" type="slidenum">
              <a:rPr lang="en-US" smtClean="0"/>
              <a:t>‹#›</a:t>
            </a:fld>
            <a:endParaRPr lang="en-US"/>
          </a:p>
        </p:txBody>
      </p:sp>
    </p:spTree>
    <p:extLst>
      <p:ext uri="{BB962C8B-B14F-4D97-AF65-F5344CB8AC3E}">
        <p14:creationId xmlns:p14="http://schemas.microsoft.com/office/powerpoint/2010/main" val="2506195888"/>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19A0B-20F7-4F51-8992-DF78BFE73333}"/>
              </a:ext>
            </a:extLst>
          </p:cNvPr>
          <p:cNvSpPr>
            <a:spLocks noGrp="1"/>
          </p:cNvSpPr>
          <p:nvPr>
            <p:ph type="title"/>
          </p:nvPr>
        </p:nvSpPr>
        <p:spPr>
          <a:xfrm>
            <a:off x="-284019" y="207083"/>
            <a:ext cx="10712117" cy="1738096"/>
          </a:xfrm>
        </p:spPr>
        <p:txBody>
          <a:bodyPr/>
          <a:lstStyle/>
          <a:p>
            <a:pPr algn="ctr"/>
            <a:r>
              <a:rPr lang="en-US" dirty="0" err="1"/>
              <a:t>Prezentare</a:t>
            </a:r>
            <a:r>
              <a:rPr lang="en-US" dirty="0"/>
              <a:t> </a:t>
            </a:r>
            <a:r>
              <a:rPr lang="en-US" dirty="0" err="1"/>
              <a:t>Proiect</a:t>
            </a:r>
            <a:r>
              <a:rPr lang="en-US" dirty="0"/>
              <a:t> </a:t>
            </a:r>
            <a:r>
              <a:rPr lang="en-US" dirty="0" err="1"/>
              <a:t>Aeroport</a:t>
            </a:r>
            <a:r>
              <a:rPr lang="en-US" dirty="0"/>
              <a:t> </a:t>
            </a:r>
            <a:r>
              <a:rPr lang="en-US" dirty="0" err="1"/>
              <a:t>si</a:t>
            </a:r>
            <a:r>
              <a:rPr lang="en-US" dirty="0"/>
              <a:t> </a:t>
            </a:r>
            <a:r>
              <a:rPr lang="en-US" dirty="0" err="1"/>
              <a:t>Firma</a:t>
            </a:r>
            <a:r>
              <a:rPr lang="en-US" dirty="0"/>
              <a:t> de </a:t>
            </a:r>
            <a:r>
              <a:rPr lang="en-US" dirty="0" err="1"/>
              <a:t>transporturi</a:t>
            </a:r>
            <a:r>
              <a:rPr lang="en-US" dirty="0"/>
              <a:t> </a:t>
            </a:r>
            <a:r>
              <a:rPr lang="en-US" dirty="0" err="1"/>
              <a:t>aeriene</a:t>
            </a:r>
            <a:endParaRPr lang="en-US" dirty="0"/>
          </a:p>
        </p:txBody>
      </p:sp>
      <p:sp>
        <p:nvSpPr>
          <p:cNvPr id="3" name="TextBox 2">
            <a:extLst>
              <a:ext uri="{FF2B5EF4-FFF2-40B4-BE49-F238E27FC236}">
                <a16:creationId xmlns:a16="http://schemas.microsoft.com/office/drawing/2014/main" id="{D25C9DC9-8B3D-4057-B790-9EA2EF9BDA43}"/>
              </a:ext>
            </a:extLst>
          </p:cNvPr>
          <p:cNvSpPr txBox="1"/>
          <p:nvPr/>
        </p:nvSpPr>
        <p:spPr>
          <a:xfrm>
            <a:off x="641684" y="1689622"/>
            <a:ext cx="9300337" cy="5016758"/>
          </a:xfrm>
          <a:prstGeom prst="rect">
            <a:avLst/>
          </a:prstGeom>
          <a:noFill/>
        </p:spPr>
        <p:txBody>
          <a:bodyPr wrap="square" rtlCol="0">
            <a:spAutoFit/>
          </a:bodyPr>
          <a:lstStyle/>
          <a:p>
            <a:pPr marL="228600" marR="0" indent="228600">
              <a:spcBef>
                <a:spcPts val="0"/>
              </a:spcBef>
              <a:spcAft>
                <a:spcPts val="0"/>
              </a:spcAft>
            </a:pPr>
            <a:r>
              <a:rPr lang="en-US" sz="3200" dirty="0" err="1">
                <a:latin typeface="Times New Roman" panose="02020603050405020304" pitchFamily="18" charset="0"/>
                <a:cs typeface="Times New Roman" panose="02020603050405020304" pitchFamily="18" charset="0"/>
              </a:rPr>
              <a:t>Proiectul</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este</a:t>
            </a:r>
            <a:r>
              <a:rPr lang="en-US" sz="3200" dirty="0">
                <a:latin typeface="Times New Roman" panose="02020603050405020304" pitchFamily="18" charset="0"/>
                <a:cs typeface="Times New Roman" panose="02020603050405020304" pitchFamily="18" charset="0"/>
              </a:rPr>
              <a:t> o </a:t>
            </a:r>
            <a:r>
              <a:rPr lang="en-US" sz="3200" dirty="0" err="1">
                <a:latin typeface="Times New Roman" panose="02020603050405020304" pitchFamily="18" charset="0"/>
                <a:cs typeface="Times New Roman" panose="02020603050405020304" pitchFamily="18" charset="0"/>
              </a:rPr>
              <a:t>aplicatie</a:t>
            </a:r>
            <a:r>
              <a:rPr lang="en-US" sz="3200" dirty="0">
                <a:latin typeface="Times New Roman" panose="02020603050405020304" pitchFamily="18" charset="0"/>
                <a:cs typeface="Times New Roman" panose="02020603050405020304" pitchFamily="18" charset="0"/>
              </a:rPr>
              <a:t> web </a:t>
            </a:r>
            <a:r>
              <a:rPr lang="en-US" sz="3200" dirty="0" err="1">
                <a:latin typeface="Times New Roman" panose="02020603050405020304" pitchFamily="18" charset="0"/>
                <a:cs typeface="Times New Roman" panose="02020603050405020304" pitchFamily="18" charset="0"/>
              </a:rPr>
              <a:t>pentru</a:t>
            </a:r>
            <a:r>
              <a:rPr lang="en-US" sz="3200" dirty="0">
                <a:latin typeface="Times New Roman" panose="02020603050405020304" pitchFamily="18" charset="0"/>
                <a:cs typeface="Times New Roman" panose="02020603050405020304" pitchFamily="18" charset="0"/>
              </a:rPr>
              <a:t> o </a:t>
            </a:r>
            <a:r>
              <a:rPr lang="en-US" sz="3200" dirty="0" err="1">
                <a:latin typeface="Times New Roman" panose="02020603050405020304" pitchFamily="18" charset="0"/>
                <a:cs typeface="Times New Roman" panose="02020603050405020304" pitchFamily="18" charset="0"/>
              </a:rPr>
              <a:t>firma</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zboruri</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exemplu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WizzAir</a:t>
            </a:r>
            <a:r>
              <a:rPr lang="en-US" sz="3200" dirty="0">
                <a:latin typeface="Times New Roman" panose="02020603050405020304" pitchFamily="18" charset="0"/>
                <a:cs typeface="Times New Roman" panose="02020603050405020304" pitchFamily="18" charset="0"/>
              </a:rPr>
              <a:t>) care </a:t>
            </a:r>
            <a:r>
              <a:rPr lang="en-US" sz="3200" dirty="0" err="1">
                <a:latin typeface="Times New Roman" panose="02020603050405020304" pitchFamily="18" charset="0"/>
                <a:cs typeface="Times New Roman" panose="02020603050405020304" pitchFamily="18" charset="0"/>
              </a:rPr>
              <a:t>detine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si</a:t>
            </a:r>
            <a:r>
              <a:rPr lang="en-US" sz="3200" dirty="0">
                <a:latin typeface="Times New Roman" panose="02020603050405020304" pitchFamily="18" charset="0"/>
                <a:cs typeface="Times New Roman" panose="02020603050405020304" pitchFamily="18" charset="0"/>
              </a:rPr>
              <a:t> un </a:t>
            </a:r>
            <a:r>
              <a:rPr lang="en-US" sz="3200" dirty="0" err="1">
                <a:latin typeface="Times New Roman" panose="02020603050405020304" pitchFamily="18" charset="0"/>
                <a:cs typeface="Times New Roman" panose="02020603050405020304" pitchFamily="18" charset="0"/>
              </a:rPr>
              <a:t>aeroport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Pagina</a:t>
            </a:r>
            <a:r>
              <a:rPr lang="en-US" sz="3200" dirty="0">
                <a:latin typeface="Times New Roman" panose="02020603050405020304" pitchFamily="18" charset="0"/>
                <a:cs typeface="Times New Roman" panose="02020603050405020304" pitchFamily="18" charset="0"/>
              </a:rPr>
              <a:t> web </a:t>
            </a:r>
            <a:r>
              <a:rPr lang="en-US" sz="3200" dirty="0" err="1">
                <a:latin typeface="Times New Roman" panose="02020603050405020304" pitchFamily="18" charset="0"/>
                <a:cs typeface="Times New Roman" panose="02020603050405020304" pitchFamily="18" charset="0"/>
              </a:rPr>
              <a:t>este</a:t>
            </a:r>
            <a:r>
              <a:rPr lang="en-US" sz="3200" dirty="0">
                <a:latin typeface="Times New Roman" panose="02020603050405020304" pitchFamily="18" charset="0"/>
                <a:cs typeface="Times New Roman" panose="02020603050405020304" pitchFamily="18" charset="0"/>
              </a:rPr>
              <a:t> destinate </a:t>
            </a:r>
            <a:r>
              <a:rPr lang="en-US" sz="3200" dirty="0" err="1">
                <a:latin typeface="Times New Roman" panose="02020603050405020304" pitchFamily="18" charset="0"/>
                <a:cs typeface="Times New Roman" panose="02020603050405020304" pitchFamily="18" charset="0"/>
              </a:rPr>
              <a:t>clientilor</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dar</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poate</a:t>
            </a:r>
            <a:r>
              <a:rPr lang="en-US" sz="3200" dirty="0">
                <a:latin typeface="Times New Roman" panose="02020603050405020304" pitchFamily="18" charset="0"/>
                <a:cs typeface="Times New Roman" panose="02020603050405020304" pitchFamily="18" charset="0"/>
              </a:rPr>
              <a:t> fi </a:t>
            </a:r>
            <a:r>
              <a:rPr lang="en-US" sz="3200" dirty="0" err="1">
                <a:latin typeface="Times New Roman" panose="02020603050405020304" pitchFamily="18" charset="0"/>
                <a:cs typeface="Times New Roman" panose="02020603050405020304" pitchFamily="18" charset="0"/>
              </a:rPr>
              <a:t>folosita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si</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piloti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persoanele</a:t>
            </a:r>
            <a:r>
              <a:rPr lang="en-US" sz="3200" dirty="0">
                <a:latin typeface="Times New Roman" panose="02020603050405020304" pitchFamily="18" charset="0"/>
                <a:cs typeface="Times New Roman" panose="02020603050405020304" pitchFamily="18" charset="0"/>
              </a:rPr>
              <a:t> care </a:t>
            </a:r>
            <a:r>
              <a:rPr lang="en-US" sz="3200" dirty="0" err="1">
                <a:latin typeface="Times New Roman" panose="02020603050405020304" pitchFamily="18" charset="0"/>
                <a:cs typeface="Times New Roman" panose="02020603050405020304" pitchFamily="18" charset="0"/>
              </a:rPr>
              <a:t>lucreaza</a:t>
            </a:r>
            <a:r>
              <a:rPr lang="en-US" sz="3200" dirty="0">
                <a:latin typeface="Times New Roman" panose="02020603050405020304" pitchFamily="18" charset="0"/>
                <a:cs typeface="Times New Roman" panose="02020603050405020304" pitchFamily="18" charset="0"/>
              </a:rPr>
              <a:t> la </a:t>
            </a:r>
            <a:r>
              <a:rPr lang="en-US" sz="3200" dirty="0" err="1">
                <a:latin typeface="Times New Roman" panose="02020603050405020304" pitchFamily="18" charset="0"/>
                <a:cs typeface="Times New Roman" panose="02020603050405020304" pitchFamily="18" charset="0"/>
              </a:rPr>
              <a:t>aeroport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catre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admini</a:t>
            </a:r>
            <a:r>
              <a:rPr lang="en-US" sz="3200" dirty="0">
                <a:latin typeface="Times New Roman" panose="02020603050405020304" pitchFamily="18" charset="0"/>
                <a:cs typeface="Times New Roman" panose="02020603050405020304" pitchFamily="18" charset="0"/>
              </a:rPr>
              <a:t> care au </a:t>
            </a:r>
            <a:r>
              <a:rPr lang="en-US" sz="3200" dirty="0" err="1">
                <a:latin typeface="Times New Roman" panose="02020603050405020304" pitchFamily="18" charset="0"/>
                <a:cs typeface="Times New Roman" panose="02020603050405020304" pitchFamily="18" charset="0"/>
              </a:rPr>
              <a:t>datoria</a:t>
            </a:r>
            <a:r>
              <a:rPr lang="en-US" sz="3200" dirty="0">
                <a:latin typeface="Times New Roman" panose="02020603050405020304" pitchFamily="18" charset="0"/>
                <a:cs typeface="Times New Roman" panose="02020603050405020304" pitchFamily="18" charset="0"/>
              </a:rPr>
              <a:t> de a face </a:t>
            </a:r>
            <a:r>
              <a:rPr lang="en-US" sz="3200" dirty="0" err="1">
                <a:latin typeface="Times New Roman" panose="02020603050405020304" pitchFamily="18" charset="0"/>
                <a:cs typeface="Times New Roman" panose="02020603050405020304" pitchFamily="18" charset="0"/>
              </a:rPr>
              <a:t>modificarile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necesare</a:t>
            </a:r>
            <a:r>
              <a:rPr lang="en-US" sz="3200" dirty="0">
                <a:latin typeface="Times New Roman" panose="02020603050405020304" pitchFamily="18" charset="0"/>
                <a:cs typeface="Times New Roman" panose="02020603050405020304" pitchFamily="18" charset="0"/>
              </a:rPr>
              <a:t> la </a:t>
            </a:r>
            <a:r>
              <a:rPr lang="en-US" sz="3200" dirty="0" err="1">
                <a:latin typeface="Times New Roman" panose="02020603050405020304" pitchFamily="18" charset="0"/>
                <a:cs typeface="Times New Roman" panose="02020603050405020304" pitchFamily="18" charset="0"/>
              </a:rPr>
              <a:t>retea</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asemenea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fiecare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utilizator</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indiferent</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tipul</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acestuia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trebuie</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a:t>
            </a:r>
            <a:r>
              <a:rPr lang="en-US" sz="3200" dirty="0">
                <a:latin typeface="Times New Roman" panose="02020603050405020304" pitchFamily="18" charset="0"/>
                <a:cs typeface="Times New Roman" panose="02020603050405020304" pitchFamily="18" charset="0"/>
              </a:rPr>
              <a:t> se </a:t>
            </a:r>
            <a:r>
              <a:rPr lang="en-US" sz="3200" dirty="0" err="1">
                <a:latin typeface="Times New Roman" panose="02020603050405020304" pitchFamily="18" charset="0"/>
                <a:cs typeface="Times New Roman" panose="02020603050405020304" pitchFamily="18" charset="0"/>
              </a:rPr>
              <a:t>logheze</a:t>
            </a:r>
            <a:r>
              <a:rPr lang="en-US" sz="3200" dirty="0">
                <a:latin typeface="Times New Roman" panose="02020603050405020304" pitchFamily="18" charset="0"/>
                <a:cs typeface="Times New Roman" panose="02020603050405020304" pitchFamily="18" charset="0"/>
              </a:rPr>
              <a:t> pe site cu un username </a:t>
            </a:r>
            <a:r>
              <a:rPr lang="en-US" sz="3200" dirty="0" err="1">
                <a:latin typeface="Times New Roman" panose="02020603050405020304" pitchFamily="18" charset="0"/>
                <a:cs typeface="Times New Roman" panose="02020603050405020304" pitchFamily="18" charset="0"/>
              </a:rPr>
              <a:t>si</a:t>
            </a:r>
            <a:r>
              <a:rPr lang="en-US" sz="3200" dirty="0">
                <a:latin typeface="Times New Roman" panose="02020603050405020304" pitchFamily="18" charset="0"/>
                <a:cs typeface="Times New Roman" panose="02020603050405020304" pitchFamily="18" charset="0"/>
              </a:rPr>
              <a:t> o </a:t>
            </a:r>
            <a:r>
              <a:rPr lang="en-US" sz="3200" dirty="0" err="1">
                <a:latin typeface="Times New Roman" panose="02020603050405020304" pitchFamily="18" charset="0"/>
                <a:cs typeface="Times New Roman" panose="02020603050405020304" pitchFamily="18" charset="0"/>
              </a:rPr>
              <a:t>parola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daca</a:t>
            </a:r>
            <a:r>
              <a:rPr lang="en-US" sz="3200" dirty="0">
                <a:latin typeface="Times New Roman" panose="02020603050405020304" pitchFamily="18" charset="0"/>
                <a:cs typeface="Times New Roman" panose="02020603050405020304" pitchFamily="18" charset="0"/>
              </a:rPr>
              <a:t> nu </a:t>
            </a:r>
            <a:r>
              <a:rPr lang="en-US" sz="3200" dirty="0" err="1">
                <a:latin typeface="Times New Roman" panose="02020603050405020304" pitchFamily="18" charset="0"/>
                <a:cs typeface="Times New Roman" panose="02020603050405020304" pitchFamily="18" charset="0"/>
              </a:rPr>
              <a:t>dispune</a:t>
            </a:r>
            <a:r>
              <a:rPr lang="en-US" sz="3200" dirty="0">
                <a:latin typeface="Times New Roman" panose="02020603050405020304" pitchFamily="18" charset="0"/>
                <a:cs typeface="Times New Roman" panose="02020603050405020304" pitchFamily="18" charset="0"/>
              </a:rPr>
              <a:t> de </a:t>
            </a:r>
            <a:r>
              <a:rPr lang="en-US" sz="3200" dirty="0" err="1">
                <a:latin typeface="Times New Roman" panose="02020603050405020304" pitchFamily="18" charset="0"/>
                <a:cs typeface="Times New Roman" panose="02020603050405020304" pitchFamily="18" charset="0"/>
              </a:rPr>
              <a:t>acestea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momentan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a:t>
            </a:r>
            <a:r>
              <a:rPr lang="en-US" sz="3200" dirty="0">
                <a:latin typeface="Times New Roman" panose="02020603050405020304" pitchFamily="18" charset="0"/>
                <a:cs typeface="Times New Roman" panose="02020603050405020304" pitchFamily="18" charset="0"/>
              </a:rPr>
              <a:t> se </a:t>
            </a:r>
            <a:r>
              <a:rPr lang="en-US" sz="3200" dirty="0" err="1">
                <a:latin typeface="Times New Roman" panose="02020603050405020304" pitchFamily="18" charset="0"/>
                <a:cs typeface="Times New Roman" panose="02020603050405020304" pitchFamily="18" charset="0"/>
              </a:rPr>
              <a:t>inregistreze</a:t>
            </a:r>
            <a:r>
              <a:rPr lang="en-US" sz="3200" dirty="0">
                <a:latin typeface="Times New Roman" panose="02020603050405020304" pitchFamily="18" charset="0"/>
                <a:cs typeface="Times New Roman" panose="02020603050405020304" pitchFamily="18" charset="0"/>
              </a:rPr>
              <a:t>.</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562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F9F1-18B3-4865-8204-028EB13FE853}"/>
              </a:ext>
            </a:extLst>
          </p:cNvPr>
          <p:cNvSpPr>
            <a:spLocks noGrp="1"/>
          </p:cNvSpPr>
          <p:nvPr>
            <p:ph type="title"/>
          </p:nvPr>
        </p:nvSpPr>
        <p:spPr>
          <a:xfrm>
            <a:off x="1484311" y="685801"/>
            <a:ext cx="10018713" cy="935182"/>
          </a:xfrm>
        </p:spPr>
        <p:txBody>
          <a:bodyPr>
            <a:normAutofit/>
          </a:bodyPr>
          <a:lstStyle/>
          <a:p>
            <a:r>
              <a:rPr lang="en-US" dirty="0" err="1"/>
              <a:t>Tehnologiile</a:t>
            </a:r>
            <a:r>
              <a:rPr lang="en-US" dirty="0"/>
              <a:t> </a:t>
            </a:r>
            <a:r>
              <a:rPr lang="en-US" dirty="0" err="1"/>
              <a:t>folosite</a:t>
            </a:r>
            <a:endParaRPr lang="en-US" dirty="0"/>
          </a:p>
        </p:txBody>
      </p:sp>
      <p:sp>
        <p:nvSpPr>
          <p:cNvPr id="3" name="Content Placeholder 2">
            <a:extLst>
              <a:ext uri="{FF2B5EF4-FFF2-40B4-BE49-F238E27FC236}">
                <a16:creationId xmlns:a16="http://schemas.microsoft.com/office/drawing/2014/main" id="{751A054E-9DDF-4C89-924C-0B7525988728}"/>
              </a:ext>
            </a:extLst>
          </p:cNvPr>
          <p:cNvSpPr>
            <a:spLocks noGrp="1"/>
          </p:cNvSpPr>
          <p:nvPr>
            <p:ph idx="1"/>
          </p:nvPr>
        </p:nvSpPr>
        <p:spPr>
          <a:xfrm>
            <a:off x="1371600" y="1748589"/>
            <a:ext cx="10018712" cy="4660524"/>
          </a:xfrm>
        </p:spPr>
        <p:txBody>
          <a:bodyPr>
            <a:normAutofit/>
          </a:bodyPr>
          <a:lstStyle/>
          <a:p>
            <a:r>
              <a:rPr lang="en-US" sz="3600" dirty="0"/>
              <a:t>Java</a:t>
            </a:r>
          </a:p>
          <a:p>
            <a:r>
              <a:rPr lang="en-US" sz="3600" dirty="0"/>
              <a:t>Maven</a:t>
            </a:r>
          </a:p>
          <a:p>
            <a:r>
              <a:rPr lang="en-US" sz="3600" dirty="0"/>
              <a:t>Spring</a:t>
            </a:r>
          </a:p>
          <a:p>
            <a:r>
              <a:rPr lang="en-US" sz="3600" dirty="0" err="1"/>
              <a:t>Vaadin</a:t>
            </a:r>
            <a:endParaRPr lang="en-US" sz="3600" dirty="0"/>
          </a:p>
          <a:p>
            <a:r>
              <a:rPr lang="en-US" sz="3600" dirty="0"/>
              <a:t>MySQL Database</a:t>
            </a:r>
          </a:p>
          <a:p>
            <a:endParaRPr lang="en-US" dirty="0"/>
          </a:p>
        </p:txBody>
      </p:sp>
    </p:spTree>
    <p:extLst>
      <p:ext uri="{BB962C8B-B14F-4D97-AF65-F5344CB8AC3E}">
        <p14:creationId xmlns:p14="http://schemas.microsoft.com/office/powerpoint/2010/main" val="4243823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1CC1D-C4AB-4695-B397-1152E2C07C16}"/>
              </a:ext>
            </a:extLst>
          </p:cNvPr>
          <p:cNvSpPr>
            <a:spLocks noGrp="1"/>
          </p:cNvSpPr>
          <p:nvPr>
            <p:ph type="title"/>
          </p:nvPr>
        </p:nvSpPr>
        <p:spPr/>
        <p:txBody>
          <a:bodyPr/>
          <a:lstStyle/>
          <a:p>
            <a:r>
              <a:rPr lang="en-US" dirty="0"/>
              <a:t>Java</a:t>
            </a:r>
          </a:p>
        </p:txBody>
      </p:sp>
      <p:sp>
        <p:nvSpPr>
          <p:cNvPr id="3" name="Content Placeholder 2">
            <a:extLst>
              <a:ext uri="{FF2B5EF4-FFF2-40B4-BE49-F238E27FC236}">
                <a16:creationId xmlns:a16="http://schemas.microsoft.com/office/drawing/2014/main" id="{35916F9E-2D18-4616-BFC3-77A250656111}"/>
              </a:ext>
            </a:extLst>
          </p:cNvPr>
          <p:cNvSpPr>
            <a:spLocks noGrp="1"/>
          </p:cNvSpPr>
          <p:nvPr>
            <p:ph idx="1"/>
          </p:nvPr>
        </p:nvSpPr>
        <p:spPr/>
        <p:txBody>
          <a:bodyPr/>
          <a:lstStyle/>
          <a:p>
            <a:r>
              <a:rPr lang="en-US" dirty="0"/>
              <a:t>Java </a:t>
            </a:r>
            <a:r>
              <a:rPr lang="en-US" dirty="0" err="1"/>
              <a:t>este</a:t>
            </a:r>
            <a:r>
              <a:rPr lang="en-US" dirty="0"/>
              <a:t> un </a:t>
            </a:r>
            <a:r>
              <a:rPr lang="en-US" dirty="0" err="1"/>
              <a:t>limbaj</a:t>
            </a:r>
            <a:r>
              <a:rPr lang="en-US" dirty="0"/>
              <a:t> de </a:t>
            </a:r>
            <a:r>
              <a:rPr lang="en-US" dirty="0" err="1"/>
              <a:t>programare</a:t>
            </a:r>
            <a:r>
              <a:rPr lang="en-US" dirty="0"/>
              <a:t> </a:t>
            </a:r>
            <a:r>
              <a:rPr lang="en-US" dirty="0" err="1"/>
              <a:t>bazat</a:t>
            </a:r>
            <a:r>
              <a:rPr lang="en-US" dirty="0"/>
              <a:t> pe </a:t>
            </a:r>
            <a:r>
              <a:rPr lang="en-US" dirty="0" err="1"/>
              <a:t>clase</a:t>
            </a:r>
            <a:r>
              <a:rPr lang="en-US" dirty="0"/>
              <a:t> </a:t>
            </a:r>
            <a:r>
              <a:rPr lang="en-US" dirty="0" err="1"/>
              <a:t>si</a:t>
            </a:r>
            <a:r>
              <a:rPr lang="en-US" dirty="0"/>
              <a:t> </a:t>
            </a:r>
            <a:r>
              <a:rPr lang="en-US" dirty="0" err="1"/>
              <a:t>orientat</a:t>
            </a:r>
            <a:r>
              <a:rPr lang="en-US" dirty="0"/>
              <a:t> pe </a:t>
            </a:r>
            <a:r>
              <a:rPr lang="en-US" dirty="0" err="1"/>
              <a:t>obiecte</a:t>
            </a:r>
            <a:r>
              <a:rPr lang="en-US" dirty="0"/>
              <a:t> care  a </a:t>
            </a:r>
            <a:r>
              <a:rPr lang="en-US" dirty="0" err="1"/>
              <a:t>fost</a:t>
            </a:r>
            <a:r>
              <a:rPr lang="en-US" dirty="0"/>
              <a:t> </a:t>
            </a:r>
            <a:r>
              <a:rPr lang="en-US" dirty="0" err="1"/>
              <a:t>conceput</a:t>
            </a:r>
            <a:r>
              <a:rPr lang="en-US" dirty="0"/>
              <a:t> cu </a:t>
            </a:r>
            <a:r>
              <a:rPr lang="en-US" dirty="0" err="1"/>
              <a:t>scopul</a:t>
            </a:r>
            <a:r>
              <a:rPr lang="en-US" dirty="0"/>
              <a:t> de a </a:t>
            </a:r>
            <a:r>
              <a:rPr lang="en-US" dirty="0" err="1"/>
              <a:t>avea</a:t>
            </a:r>
            <a:r>
              <a:rPr lang="en-US" dirty="0"/>
              <a:t> cat </a:t>
            </a:r>
            <a:r>
              <a:rPr lang="en-US" dirty="0" err="1"/>
              <a:t>mai</a:t>
            </a:r>
            <a:r>
              <a:rPr lang="en-US" dirty="0"/>
              <a:t> </a:t>
            </a:r>
            <a:r>
              <a:rPr lang="en-US" dirty="0" err="1"/>
              <a:t>putine</a:t>
            </a:r>
            <a:r>
              <a:rPr lang="en-US" dirty="0"/>
              <a:t> </a:t>
            </a:r>
            <a:r>
              <a:rPr lang="en-US" dirty="0" err="1"/>
              <a:t>dependente</a:t>
            </a:r>
            <a:r>
              <a:rPr lang="en-US" dirty="0"/>
              <a:t> de </a:t>
            </a:r>
            <a:r>
              <a:rPr lang="en-US" dirty="0" err="1"/>
              <a:t>implementare</a:t>
            </a:r>
            <a:r>
              <a:rPr lang="en-US" dirty="0"/>
              <a:t>. Cele </a:t>
            </a:r>
            <a:r>
              <a:rPr lang="en-US" dirty="0" err="1"/>
              <a:t>mai</a:t>
            </a:r>
            <a:r>
              <a:rPr lang="en-US" dirty="0"/>
              <a:t> </a:t>
            </a:r>
            <a:r>
              <a:rPr lang="en-US" dirty="0" err="1"/>
              <a:t>multe</a:t>
            </a:r>
            <a:r>
              <a:rPr lang="en-US" dirty="0"/>
              <a:t> </a:t>
            </a:r>
            <a:r>
              <a:rPr lang="en-US" dirty="0" err="1"/>
              <a:t>aplicatii</a:t>
            </a:r>
            <a:r>
              <a:rPr lang="en-US" dirty="0"/>
              <a:t> </a:t>
            </a:r>
            <a:r>
              <a:rPr lang="en-US" dirty="0" err="1"/>
              <a:t>distribuite</a:t>
            </a:r>
            <a:r>
              <a:rPr lang="en-US" dirty="0"/>
              <a:t> sunt </a:t>
            </a:r>
            <a:r>
              <a:rPr lang="en-US" dirty="0" err="1"/>
              <a:t>scrise</a:t>
            </a:r>
            <a:r>
              <a:rPr lang="en-US" dirty="0"/>
              <a:t> in Java, </a:t>
            </a:r>
            <a:r>
              <a:rPr lang="en-US" dirty="0" err="1"/>
              <a:t>iar</a:t>
            </a:r>
            <a:r>
              <a:rPr lang="en-US" dirty="0"/>
              <a:t> </a:t>
            </a:r>
            <a:r>
              <a:rPr lang="en-US" dirty="0" err="1"/>
              <a:t>noile</a:t>
            </a:r>
            <a:r>
              <a:rPr lang="en-US" dirty="0"/>
              <a:t> </a:t>
            </a:r>
            <a:r>
              <a:rPr lang="en-US" dirty="0" err="1"/>
              <a:t>evolutii</a:t>
            </a:r>
            <a:r>
              <a:rPr lang="en-US" dirty="0"/>
              <a:t> </a:t>
            </a:r>
            <a:r>
              <a:rPr lang="en-US" dirty="0" err="1"/>
              <a:t>tehnologice</a:t>
            </a:r>
            <a:r>
              <a:rPr lang="en-US" dirty="0"/>
              <a:t> permit </a:t>
            </a:r>
            <a:r>
              <a:rPr lang="en-US" dirty="0" err="1"/>
              <a:t>utilizarea</a:t>
            </a:r>
            <a:r>
              <a:rPr lang="en-US" dirty="0"/>
              <a:t> </a:t>
            </a:r>
            <a:r>
              <a:rPr lang="en-US" dirty="0" err="1"/>
              <a:t>sa</a:t>
            </a:r>
            <a:r>
              <a:rPr lang="en-US" dirty="0"/>
              <a:t> </a:t>
            </a:r>
            <a:r>
              <a:rPr lang="en-US" dirty="0" err="1"/>
              <a:t>si</a:t>
            </a:r>
            <a:r>
              <a:rPr lang="en-US" dirty="0"/>
              <a:t> de </a:t>
            </a:r>
            <a:r>
              <a:rPr lang="en-US" dirty="0" err="1"/>
              <a:t>dispozitivele</a:t>
            </a:r>
            <a:r>
              <a:rPr lang="en-US" dirty="0"/>
              <a:t> mobile. In </a:t>
            </a:r>
            <a:r>
              <a:rPr lang="en-US" dirty="0" err="1"/>
              <a:t>felul</a:t>
            </a:r>
            <a:r>
              <a:rPr lang="en-US" dirty="0"/>
              <a:t> </a:t>
            </a:r>
            <a:r>
              <a:rPr lang="en-US" dirty="0" err="1"/>
              <a:t>acesta</a:t>
            </a:r>
            <a:r>
              <a:rPr lang="en-US" dirty="0"/>
              <a:t> se </a:t>
            </a:r>
            <a:r>
              <a:rPr lang="en-US" dirty="0" err="1"/>
              <a:t>creeaza</a:t>
            </a:r>
            <a:r>
              <a:rPr lang="en-US" dirty="0"/>
              <a:t> o </a:t>
            </a:r>
            <a:r>
              <a:rPr lang="en-US" dirty="0" err="1"/>
              <a:t>platforma</a:t>
            </a:r>
            <a:r>
              <a:rPr lang="en-US" dirty="0"/>
              <a:t> unica, la </a:t>
            </a:r>
            <a:r>
              <a:rPr lang="en-US" dirty="0" err="1"/>
              <a:t>nivelul</a:t>
            </a:r>
            <a:r>
              <a:rPr lang="en-US" dirty="0"/>
              <a:t> </a:t>
            </a:r>
            <a:r>
              <a:rPr lang="en-US" dirty="0" err="1"/>
              <a:t>programatorului</a:t>
            </a:r>
            <a:r>
              <a:rPr lang="en-US" dirty="0"/>
              <a:t>, </a:t>
            </a:r>
            <a:r>
              <a:rPr lang="en-US" dirty="0" err="1"/>
              <a:t>deasupra</a:t>
            </a:r>
            <a:r>
              <a:rPr lang="en-US" dirty="0"/>
              <a:t> </a:t>
            </a:r>
            <a:r>
              <a:rPr lang="en-US" dirty="0" err="1"/>
              <a:t>unui</a:t>
            </a:r>
            <a:r>
              <a:rPr lang="en-US" dirty="0"/>
              <a:t> </a:t>
            </a:r>
            <a:r>
              <a:rPr lang="en-US" dirty="0" err="1"/>
              <a:t>mediu</a:t>
            </a:r>
            <a:r>
              <a:rPr lang="en-US" dirty="0"/>
              <a:t> </a:t>
            </a:r>
            <a:r>
              <a:rPr lang="en-US" dirty="0" err="1"/>
              <a:t>eterogen</a:t>
            </a:r>
            <a:r>
              <a:rPr lang="en-US" dirty="0"/>
              <a:t> </a:t>
            </a:r>
            <a:r>
              <a:rPr lang="en-US" dirty="0" err="1"/>
              <a:t>extrem</a:t>
            </a:r>
            <a:r>
              <a:rPr lang="en-US" dirty="0"/>
              <a:t> de </a:t>
            </a:r>
            <a:r>
              <a:rPr lang="en-US" dirty="0" err="1"/>
              <a:t>diversificat</a:t>
            </a:r>
            <a:r>
              <a:rPr lang="en-US" dirty="0"/>
              <a:t>. </a:t>
            </a:r>
          </a:p>
          <a:p>
            <a:r>
              <a:rPr lang="en-US" dirty="0" err="1"/>
              <a:t>Pentru</a:t>
            </a:r>
            <a:r>
              <a:rPr lang="en-US" dirty="0"/>
              <a:t> </a:t>
            </a:r>
            <a:r>
              <a:rPr lang="en-US" dirty="0" err="1"/>
              <a:t>acest</a:t>
            </a:r>
            <a:r>
              <a:rPr lang="en-US" dirty="0"/>
              <a:t> </a:t>
            </a:r>
            <a:r>
              <a:rPr lang="en-US" dirty="0" err="1"/>
              <a:t>proiect</a:t>
            </a:r>
            <a:r>
              <a:rPr lang="en-US" dirty="0"/>
              <a:t> </a:t>
            </a:r>
            <a:r>
              <a:rPr lang="en-US" dirty="0" err="1"/>
              <a:t>vom</a:t>
            </a:r>
            <a:r>
              <a:rPr lang="en-US" dirty="0"/>
              <a:t> </a:t>
            </a:r>
            <a:r>
              <a:rPr lang="en-US" dirty="0" err="1"/>
              <a:t>folosi</a:t>
            </a:r>
            <a:r>
              <a:rPr lang="en-US" dirty="0"/>
              <a:t> Java 15, </a:t>
            </a:r>
            <a:r>
              <a:rPr lang="en-US" dirty="0" err="1"/>
              <a:t>cea</a:t>
            </a:r>
            <a:r>
              <a:rPr lang="en-US" dirty="0"/>
              <a:t> </a:t>
            </a:r>
            <a:r>
              <a:rPr lang="en-US" dirty="0" err="1"/>
              <a:t>mai</a:t>
            </a:r>
            <a:r>
              <a:rPr lang="en-US" dirty="0"/>
              <a:t> </a:t>
            </a:r>
            <a:r>
              <a:rPr lang="en-US" dirty="0" err="1"/>
              <a:t>noua</a:t>
            </a:r>
            <a:r>
              <a:rPr lang="en-US" dirty="0"/>
              <a:t> </a:t>
            </a:r>
            <a:r>
              <a:rPr lang="en-US" dirty="0" err="1"/>
              <a:t>versiune</a:t>
            </a:r>
            <a:r>
              <a:rPr lang="en-US" dirty="0"/>
              <a:t> </a:t>
            </a:r>
            <a:r>
              <a:rPr lang="en-US" dirty="0" err="1"/>
              <a:t>lamsata</a:t>
            </a:r>
            <a:r>
              <a:rPr lang="en-US" dirty="0"/>
              <a:t> pe data de 15 </a:t>
            </a:r>
            <a:r>
              <a:rPr lang="en-US" dirty="0" err="1"/>
              <a:t>Septembrie</a:t>
            </a:r>
            <a:r>
              <a:rPr lang="en-US" dirty="0"/>
              <a:t> 2020.</a:t>
            </a:r>
          </a:p>
        </p:txBody>
      </p:sp>
    </p:spTree>
    <p:extLst>
      <p:ext uri="{BB962C8B-B14F-4D97-AF65-F5344CB8AC3E}">
        <p14:creationId xmlns:p14="http://schemas.microsoft.com/office/powerpoint/2010/main" val="2725820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C2D0F-80FD-47CA-A576-5E36FD4A6EE7}"/>
              </a:ext>
            </a:extLst>
          </p:cNvPr>
          <p:cNvSpPr>
            <a:spLocks noGrp="1"/>
          </p:cNvSpPr>
          <p:nvPr>
            <p:ph type="title"/>
          </p:nvPr>
        </p:nvSpPr>
        <p:spPr/>
        <p:txBody>
          <a:bodyPr/>
          <a:lstStyle/>
          <a:p>
            <a:r>
              <a:rPr lang="en-US" dirty="0"/>
              <a:t>Maven</a:t>
            </a:r>
          </a:p>
        </p:txBody>
      </p:sp>
      <p:sp>
        <p:nvSpPr>
          <p:cNvPr id="3" name="Content Placeholder 2">
            <a:extLst>
              <a:ext uri="{FF2B5EF4-FFF2-40B4-BE49-F238E27FC236}">
                <a16:creationId xmlns:a16="http://schemas.microsoft.com/office/drawing/2014/main" id="{1FD86A0D-34A8-4290-9984-B5FAB0304776}"/>
              </a:ext>
            </a:extLst>
          </p:cNvPr>
          <p:cNvSpPr>
            <a:spLocks noGrp="1"/>
          </p:cNvSpPr>
          <p:nvPr>
            <p:ph idx="1"/>
          </p:nvPr>
        </p:nvSpPr>
        <p:spPr/>
        <p:txBody>
          <a:bodyPr/>
          <a:lstStyle/>
          <a:p>
            <a:r>
              <a:rPr lang="en-US" dirty="0"/>
              <a:t>Maven </a:t>
            </a:r>
            <a:r>
              <a:rPr lang="en-US" dirty="0" err="1"/>
              <a:t>este</a:t>
            </a:r>
            <a:r>
              <a:rPr lang="en-US" dirty="0"/>
              <a:t> o </a:t>
            </a:r>
            <a:r>
              <a:rPr lang="en-US" dirty="0" err="1"/>
              <a:t>unealta</a:t>
            </a:r>
            <a:r>
              <a:rPr lang="en-US" dirty="0"/>
              <a:t> de </a:t>
            </a:r>
            <a:r>
              <a:rPr lang="en-US" dirty="0" err="1"/>
              <a:t>automizare</a:t>
            </a:r>
            <a:r>
              <a:rPr lang="en-US" dirty="0"/>
              <a:t> </a:t>
            </a:r>
            <a:r>
              <a:rPr lang="en-US" dirty="0" err="1"/>
              <a:t>folosit</a:t>
            </a:r>
            <a:r>
              <a:rPr lang="en-US" dirty="0"/>
              <a:t> in principal </a:t>
            </a:r>
            <a:r>
              <a:rPr lang="en-US" dirty="0" err="1"/>
              <a:t>pentru</a:t>
            </a:r>
            <a:r>
              <a:rPr lang="en-US" dirty="0"/>
              <a:t> </a:t>
            </a:r>
            <a:r>
              <a:rPr lang="en-US" dirty="0" err="1"/>
              <a:t>construirea</a:t>
            </a:r>
            <a:r>
              <a:rPr lang="en-US" dirty="0"/>
              <a:t> </a:t>
            </a:r>
            <a:r>
              <a:rPr lang="en-US" dirty="0" err="1"/>
              <a:t>proiectelor</a:t>
            </a:r>
            <a:r>
              <a:rPr lang="en-US" dirty="0"/>
              <a:t> Java, </a:t>
            </a:r>
            <a:r>
              <a:rPr lang="en-US" dirty="0" err="1"/>
              <a:t>dar</a:t>
            </a:r>
            <a:r>
              <a:rPr lang="en-US" dirty="0"/>
              <a:t> </a:t>
            </a:r>
            <a:r>
              <a:rPr lang="en-US" dirty="0" err="1"/>
              <a:t>poate</a:t>
            </a:r>
            <a:r>
              <a:rPr lang="en-US" dirty="0"/>
              <a:t> fi </a:t>
            </a:r>
            <a:r>
              <a:rPr lang="en-US" dirty="0" err="1"/>
              <a:t>folosit</a:t>
            </a:r>
            <a:r>
              <a:rPr lang="en-US" dirty="0"/>
              <a:t> </a:t>
            </a:r>
            <a:r>
              <a:rPr lang="en-US" dirty="0" err="1"/>
              <a:t>si</a:t>
            </a:r>
            <a:r>
              <a:rPr lang="en-US" dirty="0"/>
              <a:t> in C#,</a:t>
            </a:r>
            <a:r>
              <a:rPr lang="en-US" dirty="0" err="1"/>
              <a:t>Ruby,Scala</a:t>
            </a:r>
            <a:r>
              <a:rPr lang="en-US" dirty="0"/>
              <a:t> </a:t>
            </a:r>
            <a:r>
              <a:rPr lang="en-US" dirty="0" err="1"/>
              <a:t>si</a:t>
            </a:r>
            <a:r>
              <a:rPr lang="en-US" dirty="0"/>
              <a:t> </a:t>
            </a:r>
            <a:r>
              <a:rPr lang="en-US" dirty="0" err="1"/>
              <a:t>alte</a:t>
            </a:r>
            <a:r>
              <a:rPr lang="en-US" dirty="0"/>
              <a:t> </a:t>
            </a:r>
            <a:r>
              <a:rPr lang="en-US" dirty="0" err="1"/>
              <a:t>limbaje</a:t>
            </a:r>
            <a:r>
              <a:rPr lang="en-US" dirty="0"/>
              <a:t>.</a:t>
            </a:r>
          </a:p>
          <a:p>
            <a:r>
              <a:rPr lang="en-US" dirty="0" err="1"/>
              <a:t>Acesta</a:t>
            </a:r>
            <a:r>
              <a:rPr lang="en-US" dirty="0"/>
              <a:t> </a:t>
            </a:r>
            <a:r>
              <a:rPr lang="en-US" dirty="0" err="1"/>
              <a:t>adreseaza</a:t>
            </a:r>
            <a:r>
              <a:rPr lang="en-US" dirty="0"/>
              <a:t> </a:t>
            </a:r>
            <a:r>
              <a:rPr lang="en-US" dirty="0" err="1"/>
              <a:t>doua</a:t>
            </a:r>
            <a:r>
              <a:rPr lang="en-US" dirty="0"/>
              <a:t> aspect </a:t>
            </a:r>
            <a:r>
              <a:rPr lang="en-US" dirty="0" err="1"/>
              <a:t>fundamentale</a:t>
            </a:r>
            <a:r>
              <a:rPr lang="en-US" dirty="0"/>
              <a:t> ale </a:t>
            </a:r>
            <a:r>
              <a:rPr lang="en-US" dirty="0" err="1"/>
              <a:t>construirii</a:t>
            </a:r>
            <a:r>
              <a:rPr lang="en-US" dirty="0"/>
              <a:t> </a:t>
            </a:r>
            <a:r>
              <a:rPr lang="en-US" dirty="0" err="1"/>
              <a:t>programelor</a:t>
            </a:r>
            <a:r>
              <a:rPr lang="en-US" dirty="0"/>
              <a:t> software: cum </a:t>
            </a:r>
            <a:r>
              <a:rPr lang="en-US" dirty="0" err="1"/>
              <a:t>este</a:t>
            </a:r>
            <a:r>
              <a:rPr lang="en-US" dirty="0"/>
              <a:t> </a:t>
            </a:r>
            <a:r>
              <a:rPr lang="en-US" dirty="0" err="1"/>
              <a:t>construit</a:t>
            </a:r>
            <a:r>
              <a:rPr lang="en-US" dirty="0"/>
              <a:t> soft-ul </a:t>
            </a:r>
            <a:r>
              <a:rPr lang="en-US" dirty="0" err="1"/>
              <a:t>si</a:t>
            </a:r>
            <a:r>
              <a:rPr lang="en-US" dirty="0"/>
              <a:t> </a:t>
            </a:r>
            <a:r>
              <a:rPr lang="en-US" dirty="0" err="1"/>
              <a:t>dependentele</a:t>
            </a:r>
            <a:r>
              <a:rPr lang="en-US" dirty="0"/>
              <a:t> </a:t>
            </a:r>
            <a:r>
              <a:rPr lang="en-US" dirty="0" err="1"/>
              <a:t>acestuia</a:t>
            </a:r>
            <a:r>
              <a:rPr lang="en-US" dirty="0"/>
              <a:t>. Un </a:t>
            </a:r>
            <a:r>
              <a:rPr lang="en-US" dirty="0" err="1"/>
              <a:t>fisier</a:t>
            </a:r>
            <a:r>
              <a:rPr lang="en-US" dirty="0"/>
              <a:t> XML </a:t>
            </a:r>
            <a:r>
              <a:rPr lang="en-US" dirty="0" err="1"/>
              <a:t>descrie</a:t>
            </a:r>
            <a:r>
              <a:rPr lang="en-US" dirty="0"/>
              <a:t> </a:t>
            </a:r>
            <a:r>
              <a:rPr lang="en-US" dirty="0" err="1"/>
              <a:t>proiectul</a:t>
            </a:r>
            <a:r>
              <a:rPr lang="en-US" dirty="0"/>
              <a:t> software care </a:t>
            </a:r>
            <a:r>
              <a:rPr lang="en-US" dirty="0" err="1"/>
              <a:t>este</a:t>
            </a:r>
            <a:r>
              <a:rPr lang="en-US" dirty="0"/>
              <a:t> </a:t>
            </a:r>
            <a:r>
              <a:rPr lang="en-US" dirty="0" err="1"/>
              <a:t>construit</a:t>
            </a:r>
            <a:r>
              <a:rPr lang="en-US" dirty="0"/>
              <a:t>, </a:t>
            </a:r>
            <a:r>
              <a:rPr lang="en-US" dirty="0" err="1"/>
              <a:t>dependentele</a:t>
            </a:r>
            <a:r>
              <a:rPr lang="en-US" dirty="0"/>
              <a:t> </a:t>
            </a:r>
            <a:r>
              <a:rPr lang="en-US" dirty="0" err="1"/>
              <a:t>acestuia</a:t>
            </a:r>
            <a:r>
              <a:rPr lang="en-US" dirty="0"/>
              <a:t> </a:t>
            </a:r>
            <a:r>
              <a:rPr lang="en-US" dirty="0" err="1"/>
              <a:t>si</a:t>
            </a:r>
            <a:r>
              <a:rPr lang="en-US" dirty="0"/>
              <a:t> </a:t>
            </a:r>
            <a:r>
              <a:rPr lang="en-US" dirty="0" err="1"/>
              <a:t>alte</a:t>
            </a:r>
            <a:r>
              <a:rPr lang="en-US" dirty="0"/>
              <a:t> module </a:t>
            </a:r>
            <a:r>
              <a:rPr lang="en-US" dirty="0" err="1"/>
              <a:t>si</a:t>
            </a:r>
            <a:r>
              <a:rPr lang="en-US" dirty="0"/>
              <a:t> </a:t>
            </a:r>
            <a:r>
              <a:rPr lang="en-US" dirty="0" err="1"/>
              <a:t>componente</a:t>
            </a:r>
            <a:r>
              <a:rPr lang="en-US" dirty="0"/>
              <a:t> </a:t>
            </a:r>
            <a:r>
              <a:rPr lang="en-US" dirty="0" err="1"/>
              <a:t>externe</a:t>
            </a:r>
            <a:r>
              <a:rPr lang="en-US" dirty="0"/>
              <a:t>. </a:t>
            </a:r>
            <a:r>
              <a:rPr lang="en-US" dirty="0" err="1"/>
              <a:t>Astfel</a:t>
            </a:r>
            <a:r>
              <a:rPr lang="en-US" dirty="0"/>
              <a:t>, Maven </a:t>
            </a:r>
            <a:r>
              <a:rPr lang="en-US" dirty="0" err="1"/>
              <a:t>descarca</a:t>
            </a:r>
            <a:r>
              <a:rPr lang="en-US" dirty="0"/>
              <a:t> </a:t>
            </a:r>
            <a:r>
              <a:rPr lang="en-US" dirty="0" err="1"/>
              <a:t>si</a:t>
            </a:r>
            <a:r>
              <a:rPr lang="en-US" dirty="0"/>
              <a:t> </a:t>
            </a:r>
            <a:r>
              <a:rPr lang="en-US" dirty="0" err="1"/>
              <a:t>instaleaza</a:t>
            </a:r>
            <a:r>
              <a:rPr lang="en-US" dirty="0"/>
              <a:t> in mod dynamic </a:t>
            </a:r>
            <a:r>
              <a:rPr lang="en-US" dirty="0" err="1"/>
              <a:t>librariile</a:t>
            </a:r>
            <a:r>
              <a:rPr lang="en-US" dirty="0"/>
              <a:t> Java </a:t>
            </a:r>
            <a:r>
              <a:rPr lang="en-US" dirty="0" err="1"/>
              <a:t>si</a:t>
            </a:r>
            <a:r>
              <a:rPr lang="en-US" dirty="0"/>
              <a:t> plug-</a:t>
            </a:r>
            <a:r>
              <a:rPr lang="en-US" dirty="0" err="1"/>
              <a:t>inurile</a:t>
            </a:r>
            <a:r>
              <a:rPr lang="en-US" dirty="0"/>
              <a:t> </a:t>
            </a:r>
            <a:r>
              <a:rPr lang="en-US" dirty="0" err="1"/>
              <a:t>necesare</a:t>
            </a:r>
            <a:r>
              <a:rPr lang="en-US" dirty="0"/>
              <a:t> din </a:t>
            </a:r>
            <a:r>
              <a:rPr lang="en-US" dirty="0" err="1"/>
              <a:t>unul</a:t>
            </a:r>
            <a:r>
              <a:rPr lang="en-US" dirty="0"/>
              <a:t> </a:t>
            </a:r>
            <a:r>
              <a:rPr lang="en-US" dirty="0" err="1"/>
              <a:t>sau</a:t>
            </a:r>
            <a:r>
              <a:rPr lang="en-US" dirty="0"/>
              <a:t> </a:t>
            </a:r>
            <a:r>
              <a:rPr lang="en-US" dirty="0" err="1"/>
              <a:t>mai</a:t>
            </a:r>
            <a:r>
              <a:rPr lang="en-US" dirty="0"/>
              <a:t> </a:t>
            </a:r>
            <a:r>
              <a:rPr lang="en-US" dirty="0" err="1"/>
              <a:t>multe</a:t>
            </a:r>
            <a:r>
              <a:rPr lang="en-US" dirty="0"/>
              <a:t> repository-</a:t>
            </a:r>
            <a:r>
              <a:rPr lang="en-US" dirty="0" err="1"/>
              <a:t>uri</a:t>
            </a:r>
            <a:r>
              <a:rPr lang="en-US" dirty="0"/>
              <a:t> cum </a:t>
            </a:r>
            <a:r>
              <a:rPr lang="en-US" dirty="0" err="1"/>
              <a:t>ar</a:t>
            </a:r>
            <a:r>
              <a:rPr lang="en-US" dirty="0"/>
              <a:t> fi Maven 2 Central Repository </a:t>
            </a:r>
            <a:r>
              <a:rPr lang="en-US" dirty="0" err="1"/>
              <a:t>si</a:t>
            </a:r>
            <a:r>
              <a:rPr lang="en-US" dirty="0"/>
              <a:t> le </a:t>
            </a:r>
            <a:r>
              <a:rPr lang="en-US" dirty="0" err="1"/>
              <a:t>stocheaza</a:t>
            </a:r>
            <a:r>
              <a:rPr lang="en-US" dirty="0"/>
              <a:t> in </a:t>
            </a:r>
            <a:r>
              <a:rPr lang="en-US" dirty="0" err="1"/>
              <a:t>memoria</a:t>
            </a:r>
            <a:r>
              <a:rPr lang="en-US" dirty="0"/>
              <a:t> cache.</a:t>
            </a:r>
          </a:p>
          <a:p>
            <a:r>
              <a:rPr lang="en-US" dirty="0"/>
              <a:t>Cache-ul local cu </a:t>
            </a:r>
            <a:r>
              <a:rPr lang="en-US" dirty="0" err="1"/>
              <a:t>artifactele</a:t>
            </a:r>
            <a:r>
              <a:rPr lang="en-US" dirty="0"/>
              <a:t> </a:t>
            </a:r>
            <a:r>
              <a:rPr lang="en-US" dirty="0" err="1"/>
              <a:t>descarcate</a:t>
            </a:r>
            <a:r>
              <a:rPr lang="en-US" dirty="0"/>
              <a:t> </a:t>
            </a:r>
            <a:r>
              <a:rPr lang="en-US" dirty="0" err="1"/>
              <a:t>poate</a:t>
            </a:r>
            <a:r>
              <a:rPr lang="en-US" dirty="0"/>
              <a:t> fi </a:t>
            </a:r>
            <a:r>
              <a:rPr lang="en-US" dirty="0" err="1"/>
              <a:t>updatat</a:t>
            </a:r>
            <a:r>
              <a:rPr lang="en-US" dirty="0"/>
              <a:t> cu </a:t>
            </a:r>
            <a:r>
              <a:rPr lang="en-US" dirty="0" err="1"/>
              <a:t>artifactele</a:t>
            </a:r>
            <a:r>
              <a:rPr lang="en-US" dirty="0"/>
              <a:t> create de </a:t>
            </a:r>
            <a:r>
              <a:rPr lang="en-US" dirty="0" err="1"/>
              <a:t>proiectele</a:t>
            </a:r>
            <a:r>
              <a:rPr lang="en-US" dirty="0"/>
              <a:t> locale.</a:t>
            </a:r>
          </a:p>
        </p:txBody>
      </p:sp>
    </p:spTree>
    <p:extLst>
      <p:ext uri="{BB962C8B-B14F-4D97-AF65-F5344CB8AC3E}">
        <p14:creationId xmlns:p14="http://schemas.microsoft.com/office/powerpoint/2010/main" val="3655597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3F98-8FD4-4C83-80F5-7DA60B781A7A}"/>
              </a:ext>
            </a:extLst>
          </p:cNvPr>
          <p:cNvSpPr>
            <a:spLocks noGrp="1"/>
          </p:cNvSpPr>
          <p:nvPr>
            <p:ph type="title"/>
          </p:nvPr>
        </p:nvSpPr>
        <p:spPr/>
        <p:txBody>
          <a:bodyPr/>
          <a:lstStyle/>
          <a:p>
            <a:r>
              <a:rPr lang="en-US" dirty="0"/>
              <a:t>Spring</a:t>
            </a:r>
          </a:p>
        </p:txBody>
      </p:sp>
      <p:sp>
        <p:nvSpPr>
          <p:cNvPr id="3" name="Content Placeholder 2">
            <a:extLst>
              <a:ext uri="{FF2B5EF4-FFF2-40B4-BE49-F238E27FC236}">
                <a16:creationId xmlns:a16="http://schemas.microsoft.com/office/drawing/2014/main" id="{7B3DC080-7C56-4F65-A7DB-FB151BE89D86}"/>
              </a:ext>
            </a:extLst>
          </p:cNvPr>
          <p:cNvSpPr>
            <a:spLocks noGrp="1"/>
          </p:cNvSpPr>
          <p:nvPr>
            <p:ph idx="1"/>
          </p:nvPr>
        </p:nvSpPr>
        <p:spPr/>
        <p:txBody>
          <a:bodyPr/>
          <a:lstStyle/>
          <a:p>
            <a:r>
              <a:rPr lang="en-US" sz="1800" dirty="0">
                <a:effectLst/>
                <a:latin typeface="Times New Roman" panose="02020603050405020304" pitchFamily="18" charset="0"/>
                <a:ea typeface="Times New Roman" panose="02020603050405020304" pitchFamily="18" charset="0"/>
              </a:rPr>
              <a:t>Framework-ul Spring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cel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mai</a:t>
            </a:r>
            <a:r>
              <a:rPr lang="en-US" sz="1800" dirty="0">
                <a:effectLst/>
                <a:latin typeface="Times New Roman" panose="02020603050405020304" pitchFamily="18" charset="0"/>
                <a:ea typeface="Times New Roman" panose="02020603050405020304" pitchFamily="18" charset="0"/>
              </a:rPr>
              <a:t> popular framework de </a:t>
            </a:r>
            <a:r>
              <a:rPr lang="en-US" sz="1800" dirty="0" err="1">
                <a:effectLst/>
                <a:latin typeface="Times New Roman" panose="02020603050405020304" pitchFamily="18" charset="0"/>
                <a:ea typeface="Times New Roman" panose="02020603050405020304" pitchFamily="18" charset="0"/>
              </a:rPr>
              <a:t>dezvoltare</a:t>
            </a:r>
            <a:r>
              <a:rPr lang="en-US" sz="1800" dirty="0">
                <a:effectLst/>
                <a:latin typeface="Times New Roman" panose="02020603050405020304" pitchFamily="18" charset="0"/>
                <a:ea typeface="Times New Roman" panose="02020603050405020304" pitchFamily="18" charset="0"/>
              </a:rPr>
              <a:t> in Java. </a:t>
            </a:r>
            <a:r>
              <a:rPr lang="en-US" sz="1800" dirty="0" err="1">
                <a:effectLst/>
                <a:latin typeface="Times New Roman" panose="02020603050405020304" pitchFamily="18" charset="0"/>
                <a:ea typeface="Times New Roman" panose="02020603050405020304" pitchFamily="18" charset="0"/>
              </a:rPr>
              <a:t>Milioane</a:t>
            </a:r>
            <a:r>
              <a:rPr lang="en-US" sz="1800" dirty="0">
                <a:effectLst/>
                <a:latin typeface="Times New Roman" panose="02020603050405020304" pitchFamily="18" charset="0"/>
                <a:ea typeface="Times New Roman" panose="02020603050405020304" pitchFamily="18" charset="0"/>
              </a:rPr>
              <a:t> de developer </a:t>
            </a:r>
            <a:r>
              <a:rPr lang="en-US" sz="1800" dirty="0" err="1">
                <a:effectLst/>
                <a:latin typeface="Times New Roman" panose="02020603050405020304" pitchFamily="18" charset="0"/>
                <a:ea typeface="Times New Roman" panose="02020603050405020304" pitchFamily="18" charset="0"/>
              </a:rPr>
              <a:t>folosesc</a:t>
            </a:r>
            <a:r>
              <a:rPr lang="en-US" sz="1800" dirty="0">
                <a:effectLst/>
                <a:latin typeface="Times New Roman" panose="02020603050405020304" pitchFamily="18" charset="0"/>
                <a:ea typeface="Times New Roman" panose="02020603050405020304" pitchFamily="18" charset="0"/>
              </a:rPr>
              <a:t> Spring </a:t>
            </a:r>
            <a:r>
              <a:rPr lang="en-US" sz="1800" dirty="0" err="1">
                <a:effectLst/>
                <a:latin typeface="Times New Roman" panose="02020603050405020304" pitchFamily="18" charset="0"/>
                <a:ea typeface="Times New Roman" panose="02020603050405020304" pitchFamily="18" charset="0"/>
              </a:rPr>
              <a:t>pentru</a:t>
            </a:r>
            <a:r>
              <a:rPr lang="en-US" sz="1800" dirty="0">
                <a:effectLst/>
                <a:latin typeface="Times New Roman" panose="02020603050405020304" pitchFamily="18" charset="0"/>
                <a:ea typeface="Times New Roman" panose="02020603050405020304" pitchFamily="18" charset="0"/>
              </a:rPr>
              <a:t> a </a:t>
            </a:r>
            <a:r>
              <a:rPr lang="en-US" sz="1800" dirty="0" err="1">
                <a:effectLst/>
                <a:latin typeface="Times New Roman" panose="02020603050405020304" pitchFamily="18" charset="0"/>
                <a:ea typeface="Times New Roman" panose="02020603050405020304" pitchFamily="18" charset="0"/>
              </a:rPr>
              <a:t>crea</a:t>
            </a:r>
            <a:r>
              <a:rPr lang="en-US" sz="1800" dirty="0">
                <a:effectLst/>
                <a:latin typeface="Times New Roman" panose="02020603050405020304" pitchFamily="18" charset="0"/>
                <a:ea typeface="Times New Roman" panose="02020603050405020304" pitchFamily="18" charset="0"/>
              </a:rPr>
              <a:t> cod de </a:t>
            </a:r>
            <a:r>
              <a:rPr lang="en-US" sz="1800" dirty="0" err="1">
                <a:effectLst/>
                <a:latin typeface="Times New Roman" panose="02020603050405020304" pitchFamily="18" charset="0"/>
                <a:ea typeface="Times New Roman" panose="02020603050405020304" pitchFamily="18" charset="0"/>
              </a:rPr>
              <a:t>inalta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performanta</a:t>
            </a:r>
            <a:r>
              <a:rPr lang="en-US" sz="1800" dirty="0">
                <a:effectLst/>
                <a:latin typeface="Times New Roman" panose="02020603050405020304" pitchFamily="18" charset="0"/>
                <a:ea typeface="Times New Roman" panose="02020603050405020304" pitchFamily="18" charset="0"/>
              </a:rPr>
              <a:t> care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usor</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de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testat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reutilizabil</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asemenea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open source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lightweight </a:t>
            </a:r>
            <a:r>
              <a:rPr lang="en-US" sz="1800" dirty="0" err="1">
                <a:effectLst/>
                <a:latin typeface="Times New Roman" panose="02020603050405020304" pitchFamily="18" charset="0"/>
                <a:ea typeface="Times New Roman" panose="02020603050405020304" pitchFamily="18" charset="0"/>
              </a:rPr>
              <a:t>cand</a:t>
            </a:r>
            <a:r>
              <a:rPr lang="en-US" sz="1800" dirty="0">
                <a:effectLst/>
                <a:latin typeface="Times New Roman" panose="02020603050405020304" pitchFamily="18" charset="0"/>
                <a:ea typeface="Times New Roman" panose="02020603050405020304" pitchFamily="18" charset="0"/>
              </a:rPr>
              <a:t>  vine </a:t>
            </a:r>
            <a:r>
              <a:rPr lang="en-US" sz="1800" dirty="0" err="1">
                <a:effectLst/>
                <a:latin typeface="Times New Roman" panose="02020603050405020304" pitchFamily="18" charset="0"/>
                <a:ea typeface="Times New Roman" panose="02020603050405020304" pitchFamily="18" charset="0"/>
              </a:rPr>
              <a:t>vorba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spatiu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necesar</a:t>
            </a:r>
            <a:r>
              <a:rPr lang="en-US" sz="1800" dirty="0">
                <a:effectLst/>
                <a:latin typeface="Times New Roman" panose="02020603050405020304" pitchFamily="18" charset="0"/>
                <a:ea typeface="Times New Roman" panose="02020603050405020304" pitchFamily="18" charset="0"/>
              </a:rPr>
              <a:t>.</a:t>
            </a:r>
          </a:p>
          <a:p>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Acesta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poate</a:t>
            </a:r>
            <a:r>
              <a:rPr lang="en-US" sz="1800" dirty="0">
                <a:effectLst/>
                <a:latin typeface="Times New Roman" panose="02020603050405020304" pitchFamily="18" charset="0"/>
                <a:ea typeface="Times New Roman" panose="02020603050405020304" pitchFamily="18" charset="0"/>
              </a:rPr>
              <a:t> fi </a:t>
            </a:r>
            <a:r>
              <a:rPr lang="en-US" sz="1800" dirty="0" err="1">
                <a:effectLst/>
                <a:latin typeface="Times New Roman" panose="02020603050405020304" pitchFamily="18" charset="0"/>
                <a:ea typeface="Times New Roman" panose="02020603050405020304" pitchFamily="18" charset="0"/>
              </a:rPr>
              <a:t>considerat</a:t>
            </a:r>
            <a:r>
              <a:rPr lang="en-US" sz="1800" dirty="0">
                <a:effectLst/>
                <a:latin typeface="Times New Roman" panose="02020603050405020304" pitchFamily="18" charset="0"/>
                <a:ea typeface="Times New Roman" panose="02020603050405020304" pitchFamily="18" charset="0"/>
              </a:rPr>
              <a:t> un container </a:t>
            </a:r>
            <a:r>
              <a:rPr lang="en-US" sz="1800" dirty="0" err="1">
                <a:effectLst/>
                <a:latin typeface="Times New Roman" panose="02020603050405020304" pitchFamily="18" charset="0"/>
                <a:ea typeface="Times New Roman" panose="02020603050405020304" pitchFamily="18" charset="0"/>
              </a:rPr>
              <a:t>pentru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injectarea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dependentelor</a:t>
            </a:r>
            <a:r>
              <a:rPr lang="en-US" sz="1800" dirty="0">
                <a:effectLst/>
                <a:latin typeface="Times New Roman" panose="02020603050405020304" pitchFamily="18" charset="0"/>
                <a:ea typeface="Times New Roman" panose="02020603050405020304" pitchFamily="18" charset="0"/>
              </a:rPr>
              <a:t>, care continue layer-</a:t>
            </a:r>
            <a:r>
              <a:rPr lang="en-US" sz="1800" dirty="0" err="1">
                <a:effectLst/>
                <a:latin typeface="Times New Roman" panose="02020603050405020304" pitchFamily="18" charset="0"/>
                <a:ea typeface="Times New Roman" panose="02020603050405020304" pitchFamily="18" charset="0"/>
              </a:rPr>
              <a:t>uri</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acces</a:t>
            </a:r>
            <a:r>
              <a:rPr lang="en-US" sz="1800" dirty="0">
                <a:effectLst/>
                <a:latin typeface="Times New Roman" panose="02020603050405020304" pitchFamily="18" charset="0"/>
                <a:ea typeface="Times New Roman" panose="02020603050405020304" pitchFamily="18" charset="0"/>
              </a:rPr>
              <a:t> de date, proxy-</a:t>
            </a:r>
            <a:r>
              <a:rPr lang="en-US" sz="1800" dirty="0" err="1">
                <a:effectLst/>
                <a:latin typeface="Times New Roman" panose="02020603050405020304" pitchFamily="18" charset="0"/>
                <a:ea typeface="Times New Roman" panose="02020603050405020304" pitchFamily="18" charset="0"/>
              </a:rPr>
              <a:t>uri</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programare</a:t>
            </a:r>
            <a:r>
              <a:rPr lang="en-US" dirty="0">
                <a:latin typeface="Times New Roman" panose="02020603050405020304" pitchFamily="18" charset="0"/>
                <a:ea typeface="Times New Roman" panose="02020603050405020304" pitchFamily="18" charset="0"/>
              </a:rPr>
              <a:t> orientate pe aspect, RPC, web MVC </a:t>
            </a:r>
            <a:r>
              <a:rPr lang="en-US" dirty="0" err="1">
                <a:latin typeface="Times New Roman" panose="02020603050405020304" pitchFamily="18" charset="0"/>
                <a:ea typeface="Times New Roman" panose="02020603050405020304" pitchFamily="18" charset="0"/>
              </a:rPr>
              <a:t>framework,etc</a:t>
            </a:r>
            <a:r>
              <a:rPr lang="en-US" dirty="0">
                <a:latin typeface="Times New Roman" panose="02020603050405020304" pitchFamily="18" charset="0"/>
                <a:ea typeface="Times New Roman" panose="02020603050405020304" pitchFamily="18" charset="0"/>
              </a:rPr>
              <a:t>.</a:t>
            </a:r>
          </a:p>
          <a:p>
            <a:r>
              <a:rPr lang="en-US" dirty="0">
                <a:latin typeface="Times New Roman" panose="02020603050405020304" pitchFamily="18" charset="0"/>
                <a:ea typeface="Times New Roman" panose="02020603050405020304" pitchFamily="18" charset="0"/>
              </a:rPr>
              <a:t>De </a:t>
            </a:r>
            <a:r>
              <a:rPr lang="en-US" dirty="0" err="1">
                <a:latin typeface="Times New Roman" panose="02020603050405020304" pitchFamily="18" charset="0"/>
                <a:ea typeface="Times New Roman" panose="02020603050405020304" pitchFamily="18" charset="0"/>
              </a:rPr>
              <a:t>asemenea</a:t>
            </a:r>
            <a:r>
              <a:rPr lang="en-US" dirty="0">
                <a:latin typeface="Times New Roman" panose="02020603050405020304" pitchFamily="18" charset="0"/>
                <a:ea typeface="Times New Roman" panose="02020603050405020304" pitchFamily="18" charset="0"/>
              </a:rPr>
              <a:t>, framework-ul Spring MVC </a:t>
            </a:r>
            <a:r>
              <a:rPr lang="en-US" dirty="0" err="1">
                <a:latin typeface="Times New Roman" panose="02020603050405020304" pitchFamily="18" charset="0"/>
                <a:ea typeface="Times New Roman" panose="02020603050405020304" pitchFamily="18" charset="0"/>
              </a:rPr>
              <a:t>reprezinta</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fundamentul</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construirii</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aplicatiilor</a:t>
            </a:r>
            <a:r>
              <a:rPr lang="en-US" dirty="0">
                <a:latin typeface="Times New Roman" panose="02020603050405020304" pitchFamily="18" charset="0"/>
                <a:ea typeface="Times New Roman" panose="02020603050405020304" pitchFamily="18" charset="0"/>
              </a:rPr>
              <a:t> web.</a:t>
            </a:r>
          </a:p>
          <a:p>
            <a:endParaRPr lang="en-US" dirty="0"/>
          </a:p>
        </p:txBody>
      </p:sp>
    </p:spTree>
    <p:extLst>
      <p:ext uri="{BB962C8B-B14F-4D97-AF65-F5344CB8AC3E}">
        <p14:creationId xmlns:p14="http://schemas.microsoft.com/office/powerpoint/2010/main" val="1107660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0702D-8B3E-48E2-9622-C92FC424C908}"/>
              </a:ext>
            </a:extLst>
          </p:cNvPr>
          <p:cNvSpPr>
            <a:spLocks noGrp="1"/>
          </p:cNvSpPr>
          <p:nvPr>
            <p:ph type="title"/>
          </p:nvPr>
        </p:nvSpPr>
        <p:spPr/>
        <p:txBody>
          <a:bodyPr/>
          <a:lstStyle/>
          <a:p>
            <a:r>
              <a:rPr lang="en-US" dirty="0" err="1"/>
              <a:t>Vaadin</a:t>
            </a:r>
            <a:endParaRPr lang="en-US" dirty="0"/>
          </a:p>
        </p:txBody>
      </p:sp>
      <p:sp>
        <p:nvSpPr>
          <p:cNvPr id="3" name="Content Placeholder 2">
            <a:extLst>
              <a:ext uri="{FF2B5EF4-FFF2-40B4-BE49-F238E27FC236}">
                <a16:creationId xmlns:a16="http://schemas.microsoft.com/office/drawing/2014/main" id="{75E6A24A-EF1D-4B7E-92A2-9AF87D1928E6}"/>
              </a:ext>
            </a:extLst>
          </p:cNvPr>
          <p:cNvSpPr>
            <a:spLocks noGrp="1"/>
          </p:cNvSpPr>
          <p:nvPr>
            <p:ph idx="1"/>
          </p:nvPr>
        </p:nvSpPr>
        <p:spPr/>
        <p:txBody>
          <a:bodyPr/>
          <a:lstStyle/>
          <a:p>
            <a:r>
              <a:rPr lang="en-US" dirty="0" err="1"/>
              <a:t>Vaadin</a:t>
            </a:r>
            <a:r>
              <a:rPr lang="en-US" dirty="0"/>
              <a:t> </a:t>
            </a:r>
            <a:r>
              <a:rPr lang="en-US" dirty="0" err="1"/>
              <a:t>este</a:t>
            </a:r>
            <a:r>
              <a:rPr lang="en-US" dirty="0"/>
              <a:t> o </a:t>
            </a:r>
            <a:r>
              <a:rPr lang="en-US" dirty="0" err="1"/>
              <a:t>platforma</a:t>
            </a:r>
            <a:r>
              <a:rPr lang="en-US" dirty="0"/>
              <a:t> open-source </a:t>
            </a:r>
            <a:r>
              <a:rPr lang="en-US" dirty="0" err="1"/>
              <a:t>pentru</a:t>
            </a:r>
            <a:r>
              <a:rPr lang="en-US" dirty="0"/>
              <a:t> </a:t>
            </a:r>
            <a:r>
              <a:rPr lang="en-US" dirty="0" err="1"/>
              <a:t>construirea</a:t>
            </a:r>
            <a:r>
              <a:rPr lang="en-US" dirty="0"/>
              <a:t> </a:t>
            </a:r>
            <a:r>
              <a:rPr lang="en-US" dirty="0" err="1"/>
              <a:t>aplicatiilor</a:t>
            </a:r>
            <a:r>
              <a:rPr lang="en-US" dirty="0"/>
              <a:t> web in java care </a:t>
            </a:r>
            <a:r>
              <a:rPr lang="en-US" dirty="0" err="1"/>
              <a:t>ajuta</a:t>
            </a:r>
            <a:r>
              <a:rPr lang="en-US" dirty="0"/>
              <a:t> </a:t>
            </a:r>
            <a:r>
              <a:rPr lang="en-US" dirty="0" err="1"/>
              <a:t>developerii</a:t>
            </a:r>
            <a:r>
              <a:rPr lang="en-US" dirty="0"/>
              <a:t> </a:t>
            </a:r>
            <a:r>
              <a:rPr lang="en-US" dirty="0" err="1"/>
              <a:t>sa</a:t>
            </a:r>
            <a:r>
              <a:rPr lang="en-US" dirty="0"/>
              <a:t> </a:t>
            </a:r>
            <a:r>
              <a:rPr lang="en-US" dirty="0" err="1"/>
              <a:t>construiasca</a:t>
            </a:r>
            <a:r>
              <a:rPr lang="en-US" dirty="0"/>
              <a:t> </a:t>
            </a:r>
            <a:r>
              <a:rPr lang="en-US" dirty="0" err="1"/>
              <a:t>acestea</a:t>
            </a:r>
            <a:r>
              <a:rPr lang="en-US" dirty="0"/>
              <a:t> cu </a:t>
            </a:r>
            <a:r>
              <a:rPr lang="en-US" dirty="0" err="1"/>
              <a:t>efort</a:t>
            </a:r>
            <a:r>
              <a:rPr lang="en-US" dirty="0"/>
              <a:t> minim, aspect </a:t>
            </a:r>
            <a:r>
              <a:rPr lang="en-US" dirty="0" err="1"/>
              <a:t>profesional</a:t>
            </a:r>
            <a:r>
              <a:rPr lang="en-US" dirty="0"/>
              <a:t> </a:t>
            </a:r>
            <a:r>
              <a:rPr lang="en-US" dirty="0" err="1"/>
              <a:t>si</a:t>
            </a:r>
            <a:r>
              <a:rPr lang="en-US" dirty="0"/>
              <a:t> </a:t>
            </a:r>
            <a:r>
              <a:rPr lang="en-US" dirty="0" err="1"/>
              <a:t>functionalitate</a:t>
            </a:r>
            <a:r>
              <a:rPr lang="en-US" dirty="0"/>
              <a:t> </a:t>
            </a:r>
            <a:r>
              <a:rPr lang="en-US" dirty="0" err="1"/>
              <a:t>ridicata</a:t>
            </a:r>
            <a:r>
              <a:rPr lang="en-US" dirty="0"/>
              <a:t>.</a:t>
            </a:r>
          </a:p>
          <a:p>
            <a:r>
              <a:rPr lang="en-US" dirty="0"/>
              <a:t>Un alt scop al </a:t>
            </a:r>
            <a:r>
              <a:rPr lang="en-US" dirty="0" err="1"/>
              <a:t>acestei</a:t>
            </a:r>
            <a:r>
              <a:rPr lang="en-US" dirty="0"/>
              <a:t> </a:t>
            </a:r>
            <a:r>
              <a:rPr lang="en-US" dirty="0" err="1"/>
              <a:t>platforme</a:t>
            </a:r>
            <a:r>
              <a:rPr lang="en-US" dirty="0"/>
              <a:t> </a:t>
            </a:r>
            <a:r>
              <a:rPr lang="en-US" dirty="0" err="1"/>
              <a:t>este</a:t>
            </a:r>
            <a:r>
              <a:rPr lang="en-US" dirty="0"/>
              <a:t> ca </a:t>
            </a:r>
            <a:r>
              <a:rPr lang="en-US" dirty="0" err="1"/>
              <a:t>permite</a:t>
            </a:r>
            <a:r>
              <a:rPr lang="en-US" dirty="0"/>
              <a:t> </a:t>
            </a:r>
            <a:r>
              <a:rPr lang="en-US" dirty="0" err="1"/>
              <a:t>scrierea</a:t>
            </a:r>
            <a:r>
              <a:rPr lang="en-US" dirty="0"/>
              <a:t> UI-</a:t>
            </a:r>
            <a:r>
              <a:rPr lang="en-US" dirty="0" err="1"/>
              <a:t>ului</a:t>
            </a:r>
            <a:r>
              <a:rPr lang="en-US" dirty="0"/>
              <a:t> web in </a:t>
            </a:r>
            <a:r>
              <a:rPr lang="en-US" dirty="0" err="1"/>
              <a:t>procent</a:t>
            </a:r>
            <a:r>
              <a:rPr lang="en-US" dirty="0"/>
              <a:t> de 100% in Java, </a:t>
            </a:r>
            <a:r>
              <a:rPr lang="en-US" dirty="0" err="1"/>
              <a:t>nefiind</a:t>
            </a:r>
            <a:r>
              <a:rPr lang="en-US" dirty="0"/>
              <a:t> </a:t>
            </a:r>
            <a:r>
              <a:rPr lang="en-US" dirty="0" err="1"/>
              <a:t>nevoiti</a:t>
            </a:r>
            <a:r>
              <a:rPr lang="en-US" dirty="0"/>
              <a:t> </a:t>
            </a:r>
            <a:r>
              <a:rPr lang="en-US" dirty="0" err="1"/>
              <a:t>sa</a:t>
            </a:r>
            <a:r>
              <a:rPr lang="en-US" dirty="0"/>
              <a:t> </a:t>
            </a:r>
            <a:r>
              <a:rPr lang="en-US" dirty="0" err="1"/>
              <a:t>folosim</a:t>
            </a:r>
            <a:r>
              <a:rPr lang="en-US" dirty="0"/>
              <a:t> JS,HTML </a:t>
            </a:r>
            <a:r>
              <a:rPr lang="en-US" dirty="0" err="1"/>
              <a:t>sau</a:t>
            </a:r>
            <a:r>
              <a:rPr lang="en-US" dirty="0"/>
              <a:t> CSS </a:t>
            </a:r>
            <a:r>
              <a:rPr lang="en-US" dirty="0" err="1"/>
              <a:t>doar</a:t>
            </a:r>
            <a:r>
              <a:rPr lang="en-US" dirty="0"/>
              <a:t> in </a:t>
            </a:r>
            <a:r>
              <a:rPr lang="en-US" dirty="0" err="1"/>
              <a:t>anumite</a:t>
            </a:r>
            <a:r>
              <a:rPr lang="en-US" dirty="0"/>
              <a:t> parti ale </a:t>
            </a:r>
            <a:r>
              <a:rPr lang="en-US" dirty="0" err="1"/>
              <a:t>proiectului</a:t>
            </a:r>
            <a:r>
              <a:rPr lang="en-US" dirty="0"/>
              <a:t>.</a:t>
            </a:r>
          </a:p>
          <a:p>
            <a:r>
              <a:rPr lang="en-US" dirty="0" err="1"/>
              <a:t>Aplicatiile</a:t>
            </a:r>
            <a:r>
              <a:rPr lang="en-US" dirty="0"/>
              <a:t> </a:t>
            </a:r>
            <a:r>
              <a:rPr lang="en-US" dirty="0" err="1"/>
              <a:t>construite</a:t>
            </a:r>
            <a:r>
              <a:rPr lang="en-US" dirty="0"/>
              <a:t> cu </a:t>
            </a:r>
            <a:r>
              <a:rPr lang="en-US" dirty="0" err="1"/>
              <a:t>ajutorul</a:t>
            </a:r>
            <a:r>
              <a:rPr lang="en-US" dirty="0"/>
              <a:t> </a:t>
            </a:r>
            <a:r>
              <a:rPr lang="en-US" dirty="0" err="1"/>
              <a:t>acestei</a:t>
            </a:r>
            <a:r>
              <a:rPr lang="en-US" dirty="0"/>
              <a:t> </a:t>
            </a:r>
            <a:r>
              <a:rPr lang="en-US" dirty="0" err="1"/>
              <a:t>platfome</a:t>
            </a:r>
            <a:r>
              <a:rPr lang="en-US" dirty="0"/>
              <a:t> pot fi </a:t>
            </a:r>
            <a:r>
              <a:rPr lang="en-US" dirty="0" err="1"/>
              <a:t>rulate</a:t>
            </a:r>
            <a:r>
              <a:rPr lang="en-US" dirty="0"/>
              <a:t> de pe desktop, cat </a:t>
            </a:r>
            <a:r>
              <a:rPr lang="en-US" dirty="0" err="1"/>
              <a:t>si</a:t>
            </a:r>
            <a:r>
              <a:rPr lang="en-US" dirty="0"/>
              <a:t> de pe </a:t>
            </a:r>
            <a:r>
              <a:rPr lang="en-US" dirty="0" err="1"/>
              <a:t>dispozitivele</a:t>
            </a:r>
            <a:r>
              <a:rPr lang="en-US" dirty="0"/>
              <a:t> mobile, </a:t>
            </a:r>
            <a:r>
              <a:rPr lang="en-US" dirty="0" err="1"/>
              <a:t>singura</a:t>
            </a:r>
            <a:r>
              <a:rPr lang="en-US" dirty="0"/>
              <a:t> </a:t>
            </a:r>
            <a:r>
              <a:rPr lang="en-US" dirty="0" err="1"/>
              <a:t>conditie</a:t>
            </a:r>
            <a:r>
              <a:rPr lang="en-US" dirty="0"/>
              <a:t> </a:t>
            </a:r>
            <a:r>
              <a:rPr lang="en-US" dirty="0" err="1"/>
              <a:t>fiind</a:t>
            </a:r>
            <a:r>
              <a:rPr lang="en-US" dirty="0"/>
              <a:t> de a </a:t>
            </a:r>
            <a:r>
              <a:rPr lang="en-US" dirty="0" err="1"/>
              <a:t>avea</a:t>
            </a:r>
            <a:r>
              <a:rPr lang="en-US" dirty="0"/>
              <a:t> </a:t>
            </a:r>
            <a:r>
              <a:rPr lang="en-US" dirty="0" err="1"/>
              <a:t>conexiune</a:t>
            </a:r>
            <a:r>
              <a:rPr lang="en-US" dirty="0"/>
              <a:t> la internet </a:t>
            </a:r>
            <a:r>
              <a:rPr lang="en-US" dirty="0" err="1"/>
              <a:t>si</a:t>
            </a:r>
            <a:r>
              <a:rPr lang="en-US" dirty="0"/>
              <a:t> un browser </a:t>
            </a:r>
            <a:r>
              <a:rPr lang="en-US" dirty="0" err="1"/>
              <a:t>pentru</a:t>
            </a:r>
            <a:r>
              <a:rPr lang="en-US" dirty="0"/>
              <a:t> </a:t>
            </a:r>
            <a:r>
              <a:rPr lang="en-US" dirty="0" err="1"/>
              <a:t>accesarea</a:t>
            </a:r>
            <a:r>
              <a:rPr lang="en-US" dirty="0"/>
              <a:t> site-</a:t>
            </a:r>
            <a:r>
              <a:rPr lang="en-US" dirty="0" err="1"/>
              <a:t>ului</a:t>
            </a:r>
            <a:r>
              <a:rPr lang="en-US" dirty="0"/>
              <a:t>.</a:t>
            </a:r>
          </a:p>
        </p:txBody>
      </p:sp>
    </p:spTree>
    <p:extLst>
      <p:ext uri="{BB962C8B-B14F-4D97-AF65-F5344CB8AC3E}">
        <p14:creationId xmlns:p14="http://schemas.microsoft.com/office/powerpoint/2010/main" val="2562087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662A8-EFC9-4F23-9B7E-7AD733437661}"/>
              </a:ext>
            </a:extLst>
          </p:cNvPr>
          <p:cNvSpPr>
            <a:spLocks noGrp="1"/>
          </p:cNvSpPr>
          <p:nvPr>
            <p:ph type="title"/>
          </p:nvPr>
        </p:nvSpPr>
        <p:spPr/>
        <p:txBody>
          <a:bodyPr/>
          <a:lstStyle/>
          <a:p>
            <a:r>
              <a:rPr lang="en-US" dirty="0"/>
              <a:t>MySQL</a:t>
            </a:r>
          </a:p>
        </p:txBody>
      </p:sp>
      <p:sp>
        <p:nvSpPr>
          <p:cNvPr id="3" name="Content Placeholder 2">
            <a:extLst>
              <a:ext uri="{FF2B5EF4-FFF2-40B4-BE49-F238E27FC236}">
                <a16:creationId xmlns:a16="http://schemas.microsoft.com/office/drawing/2014/main" id="{CB1034EB-B249-4E4F-963A-DAA9D0DF3ABA}"/>
              </a:ext>
            </a:extLst>
          </p:cNvPr>
          <p:cNvSpPr>
            <a:spLocks noGrp="1"/>
          </p:cNvSpPr>
          <p:nvPr>
            <p:ph idx="1"/>
          </p:nvPr>
        </p:nvSpPr>
        <p:spPr/>
        <p:txBody>
          <a:bodyPr/>
          <a:lstStyle/>
          <a:p>
            <a:r>
              <a:rPr lang="en-US" dirty="0"/>
              <a:t>MySQL </a:t>
            </a:r>
            <a:r>
              <a:rPr lang="en-US" dirty="0" err="1"/>
              <a:t>este</a:t>
            </a:r>
            <a:r>
              <a:rPr lang="en-US" dirty="0"/>
              <a:t> un system de </a:t>
            </a:r>
            <a:r>
              <a:rPr lang="en-US" dirty="0" err="1"/>
              <a:t>gestiune</a:t>
            </a:r>
            <a:r>
              <a:rPr lang="en-US" dirty="0"/>
              <a:t> a </a:t>
            </a:r>
            <a:r>
              <a:rPr lang="en-US" dirty="0" err="1"/>
              <a:t>bazelor</a:t>
            </a:r>
            <a:r>
              <a:rPr lang="en-US" dirty="0"/>
              <a:t> de date </a:t>
            </a:r>
            <a:r>
              <a:rPr lang="en-US" dirty="0" err="1"/>
              <a:t>relationale</a:t>
            </a:r>
            <a:r>
              <a:rPr lang="en-US" dirty="0"/>
              <a:t> </a:t>
            </a:r>
            <a:r>
              <a:rPr lang="en-US" dirty="0" err="1"/>
              <a:t>si</a:t>
            </a:r>
            <a:r>
              <a:rPr lang="en-US" dirty="0"/>
              <a:t> </a:t>
            </a:r>
            <a:r>
              <a:rPr lang="en-US" dirty="0" err="1"/>
              <a:t>este</a:t>
            </a:r>
            <a:r>
              <a:rPr lang="en-US" dirty="0"/>
              <a:t> </a:t>
            </a:r>
            <a:r>
              <a:rPr lang="en-US" dirty="0" err="1"/>
              <a:t>cel</a:t>
            </a:r>
            <a:r>
              <a:rPr lang="en-US" dirty="0"/>
              <a:t> </a:t>
            </a:r>
            <a:r>
              <a:rPr lang="en-US" dirty="0" err="1"/>
              <a:t>mai</a:t>
            </a:r>
            <a:r>
              <a:rPr lang="en-US" dirty="0"/>
              <a:t> popular SGBD open-source la </a:t>
            </a:r>
            <a:r>
              <a:rPr lang="en-US" dirty="0" err="1"/>
              <a:t>ora</a:t>
            </a:r>
            <a:r>
              <a:rPr lang="en-US" dirty="0"/>
              <a:t> </a:t>
            </a:r>
            <a:r>
              <a:rPr lang="en-US" dirty="0" err="1"/>
              <a:t>actuala</a:t>
            </a:r>
            <a:r>
              <a:rPr lang="en-US" dirty="0"/>
              <a:t>. </a:t>
            </a:r>
            <a:r>
              <a:rPr lang="en-US" dirty="0" err="1"/>
              <a:t>Acesta</a:t>
            </a:r>
            <a:r>
              <a:rPr lang="en-US" dirty="0"/>
              <a:t> face </a:t>
            </a:r>
            <a:r>
              <a:rPr lang="en-US" dirty="0" err="1"/>
              <a:t>parte</a:t>
            </a:r>
            <a:r>
              <a:rPr lang="en-US" dirty="0"/>
              <a:t> din </a:t>
            </a:r>
            <a:r>
              <a:rPr lang="en-US" dirty="0" err="1"/>
              <a:t>stiva</a:t>
            </a:r>
            <a:r>
              <a:rPr lang="en-US" dirty="0"/>
              <a:t> LAMP (Linux, Apache, MySQL, PHP), acronym </a:t>
            </a:r>
            <a:r>
              <a:rPr lang="en-US" dirty="0" err="1"/>
              <a:t>pentru</a:t>
            </a:r>
            <a:r>
              <a:rPr lang="en-US" dirty="0"/>
              <a:t> o </a:t>
            </a:r>
            <a:r>
              <a:rPr lang="en-US" dirty="0" err="1"/>
              <a:t>platforma</a:t>
            </a:r>
            <a:r>
              <a:rPr lang="en-US" dirty="0"/>
              <a:t> de </a:t>
            </a:r>
            <a:r>
              <a:rPr lang="en-US" dirty="0" err="1"/>
              <a:t>gazduire</a:t>
            </a:r>
            <a:r>
              <a:rPr lang="en-US" dirty="0"/>
              <a:t> a site-</a:t>
            </a:r>
            <a:r>
              <a:rPr lang="en-US" dirty="0" err="1"/>
              <a:t>urilor</a:t>
            </a:r>
            <a:r>
              <a:rPr lang="en-US" dirty="0"/>
              <a:t> web.</a:t>
            </a:r>
          </a:p>
          <a:p>
            <a:r>
              <a:rPr lang="en-US" dirty="0"/>
              <a:t>Cu MySQL se pot </a:t>
            </a:r>
            <a:r>
              <a:rPr lang="en-US" dirty="0" err="1"/>
              <a:t>construi</a:t>
            </a:r>
            <a:r>
              <a:rPr lang="en-US" dirty="0"/>
              <a:t> </a:t>
            </a:r>
            <a:r>
              <a:rPr lang="en-US" dirty="0" err="1"/>
              <a:t>aplicatii</a:t>
            </a:r>
            <a:r>
              <a:rPr lang="en-US" dirty="0"/>
              <a:t> in </a:t>
            </a:r>
            <a:r>
              <a:rPr lang="en-US" dirty="0" err="1"/>
              <a:t>orice</a:t>
            </a:r>
            <a:r>
              <a:rPr lang="en-US" dirty="0"/>
              <a:t> </a:t>
            </a:r>
            <a:r>
              <a:rPr lang="en-US" dirty="0" err="1"/>
              <a:t>limbaj</a:t>
            </a:r>
            <a:r>
              <a:rPr lang="en-US" dirty="0"/>
              <a:t> major </a:t>
            </a:r>
            <a:r>
              <a:rPr lang="en-US" dirty="0" err="1"/>
              <a:t>si</a:t>
            </a:r>
            <a:r>
              <a:rPr lang="en-US" dirty="0"/>
              <a:t> </a:t>
            </a:r>
            <a:r>
              <a:rPr lang="en-US" dirty="0" err="1"/>
              <a:t>exista</a:t>
            </a:r>
            <a:r>
              <a:rPr lang="en-US" dirty="0"/>
              <a:t> </a:t>
            </a:r>
            <a:r>
              <a:rPr lang="en-US" dirty="0" err="1"/>
              <a:t>multe</a:t>
            </a:r>
            <a:r>
              <a:rPr lang="en-US" dirty="0"/>
              <a:t> API-</a:t>
            </a:r>
            <a:r>
              <a:rPr lang="en-US" dirty="0" err="1"/>
              <a:t>uri</a:t>
            </a:r>
            <a:r>
              <a:rPr lang="en-US" dirty="0"/>
              <a:t> </a:t>
            </a:r>
            <a:r>
              <a:rPr lang="en-US" dirty="0" err="1"/>
              <a:t>disponibile</a:t>
            </a:r>
            <a:r>
              <a:rPr lang="en-US" dirty="0"/>
              <a:t> </a:t>
            </a:r>
            <a:r>
              <a:rPr lang="en-US" dirty="0" err="1"/>
              <a:t>ce</a:t>
            </a:r>
            <a:r>
              <a:rPr lang="en-US" dirty="0"/>
              <a:t> permit </a:t>
            </a:r>
            <a:r>
              <a:rPr lang="en-US" dirty="0" err="1"/>
              <a:t>scrierea</a:t>
            </a:r>
            <a:r>
              <a:rPr lang="en-US" dirty="0"/>
              <a:t> </a:t>
            </a:r>
            <a:r>
              <a:rPr lang="en-US" dirty="0" err="1"/>
              <a:t>aplicatiilor</a:t>
            </a:r>
            <a:r>
              <a:rPr lang="en-US" dirty="0"/>
              <a:t> in </a:t>
            </a:r>
            <a:r>
              <a:rPr lang="en-US" dirty="0" err="1"/>
              <a:t>numeroase</a:t>
            </a:r>
            <a:r>
              <a:rPr lang="en-US" dirty="0"/>
              <a:t> </a:t>
            </a:r>
            <a:r>
              <a:rPr lang="en-US" dirty="0" err="1"/>
              <a:t>limbaje</a:t>
            </a:r>
            <a:r>
              <a:rPr lang="en-US" dirty="0"/>
              <a:t> de </a:t>
            </a:r>
            <a:r>
              <a:rPr lang="en-US" dirty="0" err="1"/>
              <a:t>programare</a:t>
            </a:r>
            <a:r>
              <a:rPr lang="en-US" dirty="0"/>
              <a:t>.</a:t>
            </a:r>
          </a:p>
        </p:txBody>
      </p:sp>
    </p:spTree>
    <p:extLst>
      <p:ext uri="{BB962C8B-B14F-4D97-AF65-F5344CB8AC3E}">
        <p14:creationId xmlns:p14="http://schemas.microsoft.com/office/powerpoint/2010/main" val="72719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E50B5-34EF-47DF-ACE5-835795885B12}"/>
              </a:ext>
            </a:extLst>
          </p:cNvPr>
          <p:cNvSpPr>
            <a:spLocks noGrp="1"/>
          </p:cNvSpPr>
          <p:nvPr>
            <p:ph type="ctrTitle"/>
          </p:nvPr>
        </p:nvSpPr>
        <p:spPr/>
        <p:txBody>
          <a:bodyPr/>
          <a:lstStyle/>
          <a:p>
            <a:pPr algn="ctr"/>
            <a:r>
              <a:rPr lang="en-US" dirty="0" err="1"/>
              <a:t>Arhitectura</a:t>
            </a:r>
            <a:r>
              <a:rPr lang="en-US" dirty="0"/>
              <a:t> </a:t>
            </a:r>
            <a:r>
              <a:rPr lang="en-US" dirty="0" err="1"/>
              <a:t>si</a:t>
            </a:r>
            <a:r>
              <a:rPr lang="en-US" dirty="0"/>
              <a:t> Design-ul </a:t>
            </a:r>
            <a:r>
              <a:rPr lang="en-US" dirty="0" err="1"/>
              <a:t>Sistemului</a:t>
            </a:r>
            <a:endParaRPr lang="en-US" dirty="0"/>
          </a:p>
        </p:txBody>
      </p:sp>
      <p:sp>
        <p:nvSpPr>
          <p:cNvPr id="3" name="Subtitle 2">
            <a:extLst>
              <a:ext uri="{FF2B5EF4-FFF2-40B4-BE49-F238E27FC236}">
                <a16:creationId xmlns:a16="http://schemas.microsoft.com/office/drawing/2014/main" id="{B88D6BAA-1519-4471-9B93-EBD8C010F87D}"/>
              </a:ext>
            </a:extLst>
          </p:cNvPr>
          <p:cNvSpPr>
            <a:spLocks noGrp="1"/>
          </p:cNvSpPr>
          <p:nvPr>
            <p:ph type="subTitle" idx="1"/>
          </p:nvPr>
        </p:nvSpPr>
        <p:spPr/>
        <p:txBody>
          <a:bodyPr/>
          <a:lstStyle/>
          <a:p>
            <a:pPr algn="l"/>
            <a:r>
              <a:rPr lang="en-US" dirty="0" err="1"/>
              <a:t>Pentru</a:t>
            </a:r>
            <a:r>
              <a:rPr lang="en-US" dirty="0"/>
              <a:t> a </a:t>
            </a:r>
            <a:r>
              <a:rPr lang="en-US" dirty="0" err="1"/>
              <a:t>intelege</a:t>
            </a:r>
            <a:r>
              <a:rPr lang="en-US" dirty="0"/>
              <a:t> </a:t>
            </a:r>
            <a:r>
              <a:rPr lang="en-US" dirty="0" err="1"/>
              <a:t>modul</a:t>
            </a:r>
            <a:r>
              <a:rPr lang="en-US" dirty="0"/>
              <a:t> de </a:t>
            </a:r>
            <a:r>
              <a:rPr lang="en-US" dirty="0" err="1"/>
              <a:t>functionare</a:t>
            </a:r>
            <a:r>
              <a:rPr lang="en-US" dirty="0"/>
              <a:t> </a:t>
            </a:r>
            <a:r>
              <a:rPr lang="en-US" dirty="0" err="1"/>
              <a:t>si</a:t>
            </a:r>
            <a:r>
              <a:rPr lang="en-US" dirty="0"/>
              <a:t> </a:t>
            </a:r>
            <a:r>
              <a:rPr lang="en-US" dirty="0" err="1"/>
              <a:t>arhitectura</a:t>
            </a:r>
            <a:r>
              <a:rPr lang="en-US" dirty="0"/>
              <a:t> </a:t>
            </a:r>
            <a:r>
              <a:rPr lang="en-US" dirty="0" err="1"/>
              <a:t>sistemului</a:t>
            </a:r>
            <a:r>
              <a:rPr lang="en-US" dirty="0"/>
              <a:t>, </a:t>
            </a:r>
            <a:r>
              <a:rPr lang="en-US" dirty="0" err="1"/>
              <a:t>avem</a:t>
            </a:r>
            <a:r>
              <a:rPr lang="en-US" dirty="0"/>
              <a:t> </a:t>
            </a:r>
            <a:r>
              <a:rPr lang="en-US" dirty="0" err="1"/>
              <a:t>urmatoarele</a:t>
            </a:r>
            <a:r>
              <a:rPr lang="en-US" dirty="0"/>
              <a:t> </a:t>
            </a:r>
            <a:r>
              <a:rPr lang="en-US" dirty="0" err="1"/>
              <a:t>diagrame</a:t>
            </a:r>
            <a:r>
              <a:rPr lang="en-US" dirty="0"/>
              <a:t>:</a:t>
            </a:r>
          </a:p>
        </p:txBody>
      </p:sp>
    </p:spTree>
    <p:extLst>
      <p:ext uri="{BB962C8B-B14F-4D97-AF65-F5344CB8AC3E}">
        <p14:creationId xmlns:p14="http://schemas.microsoft.com/office/powerpoint/2010/main" val="2764983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4474-8CE9-42F1-BED2-E0F38951474B}"/>
              </a:ext>
            </a:extLst>
          </p:cNvPr>
          <p:cNvSpPr>
            <a:spLocks noGrp="1"/>
          </p:cNvSpPr>
          <p:nvPr>
            <p:ph type="title"/>
          </p:nvPr>
        </p:nvSpPr>
        <p:spPr>
          <a:xfrm>
            <a:off x="0" y="8313"/>
            <a:ext cx="5403273" cy="1022465"/>
          </a:xfrm>
        </p:spPr>
        <p:txBody>
          <a:bodyPr>
            <a:normAutofit/>
          </a:bodyPr>
          <a:lstStyle/>
          <a:p>
            <a:r>
              <a:rPr lang="en-US" dirty="0"/>
              <a:t>Use case Admin</a:t>
            </a:r>
          </a:p>
        </p:txBody>
      </p:sp>
      <p:pic>
        <p:nvPicPr>
          <p:cNvPr id="5" name="Content Placeholder 4">
            <a:extLst>
              <a:ext uri="{FF2B5EF4-FFF2-40B4-BE49-F238E27FC236}">
                <a16:creationId xmlns:a16="http://schemas.microsoft.com/office/drawing/2014/main" id="{4E8884C4-0B5D-4F95-9FBA-653F742EA4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50133" y="657439"/>
            <a:ext cx="4430195" cy="4745833"/>
          </a:xfrm>
        </p:spPr>
      </p:pic>
      <p:sp>
        <p:nvSpPr>
          <p:cNvPr id="3" name="TextBox 2">
            <a:extLst>
              <a:ext uri="{FF2B5EF4-FFF2-40B4-BE49-F238E27FC236}">
                <a16:creationId xmlns:a16="http://schemas.microsoft.com/office/drawing/2014/main" id="{CE78D256-A5A6-48CF-9366-228CC226E249}"/>
              </a:ext>
            </a:extLst>
          </p:cNvPr>
          <p:cNvSpPr txBox="1"/>
          <p:nvPr/>
        </p:nvSpPr>
        <p:spPr>
          <a:xfrm>
            <a:off x="146860" y="1030778"/>
            <a:ext cx="4887883" cy="4247317"/>
          </a:xfrm>
          <a:prstGeom prst="rect">
            <a:avLst/>
          </a:prstGeom>
          <a:noFill/>
        </p:spPr>
        <p:txBody>
          <a:bodyPr wrap="square" rtlCol="0">
            <a:spAutoFit/>
          </a:bodyPr>
          <a:lstStyle/>
          <a:p>
            <a:r>
              <a:rPr lang="ro-RO" sz="1800" dirty="0">
                <a:effectLst/>
                <a:latin typeface="Times New Roman" panose="02020603050405020304" pitchFamily="18" charset="0"/>
                <a:ea typeface="Times New Roman" panose="02020603050405020304" pitchFamily="18" charset="0"/>
              </a:rPr>
              <a:t>Administratorul se va conecta cu un cont cu permisiuni speciale care ii permit sa modifice aproape orice in cadrul sistemului, deci rolul acestuia este de a mentine integritatea si actualitatea site-ului si a bazei de date. De exemplu daca un angajat este concediat depinde de acesta sa faca modificarile necesare pentru a disparea numele angajatului din cadrul site-ului si a bazei de date. De asemenea acesta poate modifica rutele existente, sa le stearga sau sa adauge rute noi de zbor sau sa modifice modelel de avioane disponibile, vehicule din aeroport sau chiar sa stearga clienti sau sa le modifice istoricul tranzactiilor pentru rambursarea banilor in cazul unei probleme.</a:t>
            </a:r>
            <a:endParaRPr lang="en-US" dirty="0"/>
          </a:p>
        </p:txBody>
      </p:sp>
    </p:spTree>
    <p:extLst>
      <p:ext uri="{BB962C8B-B14F-4D97-AF65-F5344CB8AC3E}">
        <p14:creationId xmlns:p14="http://schemas.microsoft.com/office/powerpoint/2010/main" val="1629775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F97F0-A4D2-4E94-90E2-3486731FA88C}"/>
              </a:ext>
            </a:extLst>
          </p:cNvPr>
          <p:cNvSpPr>
            <a:spLocks noGrp="1"/>
          </p:cNvSpPr>
          <p:nvPr>
            <p:ph type="title"/>
          </p:nvPr>
        </p:nvSpPr>
        <p:spPr>
          <a:xfrm>
            <a:off x="0" y="0"/>
            <a:ext cx="5625926" cy="1124988"/>
          </a:xfrm>
        </p:spPr>
        <p:txBody>
          <a:bodyPr/>
          <a:lstStyle/>
          <a:p>
            <a:r>
              <a:rPr lang="en-US" dirty="0"/>
              <a:t>Use case Client</a:t>
            </a:r>
          </a:p>
        </p:txBody>
      </p:sp>
      <p:pic>
        <p:nvPicPr>
          <p:cNvPr id="5" name="Content Placeholder 4">
            <a:extLst>
              <a:ext uri="{FF2B5EF4-FFF2-40B4-BE49-F238E27FC236}">
                <a16:creationId xmlns:a16="http://schemas.microsoft.com/office/drawing/2014/main" id="{14DADF37-748C-42B7-AD6A-5734D38382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82815" y="337909"/>
            <a:ext cx="5530808" cy="4468174"/>
          </a:xfrm>
        </p:spPr>
      </p:pic>
      <p:sp>
        <p:nvSpPr>
          <p:cNvPr id="3" name="TextBox 2">
            <a:extLst>
              <a:ext uri="{FF2B5EF4-FFF2-40B4-BE49-F238E27FC236}">
                <a16:creationId xmlns:a16="http://schemas.microsoft.com/office/drawing/2014/main" id="{661968DA-1CB7-47B2-9092-50B511F0F341}"/>
              </a:ext>
            </a:extLst>
          </p:cNvPr>
          <p:cNvSpPr txBox="1"/>
          <p:nvPr/>
        </p:nvSpPr>
        <p:spPr>
          <a:xfrm>
            <a:off x="116378" y="1417834"/>
            <a:ext cx="5195454" cy="2308324"/>
          </a:xfrm>
          <a:prstGeom prst="rect">
            <a:avLst/>
          </a:prstGeom>
          <a:noFill/>
        </p:spPr>
        <p:txBody>
          <a:bodyPr wrap="square" rtlCol="0">
            <a:spAutoFit/>
          </a:bodyPr>
          <a:lstStyle/>
          <a:p>
            <a:r>
              <a:rPr lang="ro-RO" sz="1800" dirty="0">
                <a:effectLst/>
                <a:latin typeface="Times New Roman" panose="02020603050405020304" pitchFamily="18" charset="0"/>
                <a:ea typeface="Times New Roman" panose="02020603050405020304" pitchFamily="18" charset="0"/>
              </a:rPr>
              <a:t>Client-ul este utilizatorul obisnuit care doreste sa vizioneze ofertele, rutele si avioanele disponibile sau sa isi achizitioneze un bilet de zbor. Fiecare user trebuie sa aiba si un cont. In cazul in care un utilizator doreste sa acceseze site-ul si nu are cont acesta va trebui sa isi faca un cont folosind adresa de email, datele personale si un numar de telefon. Fiecare utilizator poate sa vada istoricul tranzactiilor sale.</a:t>
            </a:r>
            <a:endParaRPr lang="en-US" dirty="0"/>
          </a:p>
        </p:txBody>
      </p:sp>
    </p:spTree>
    <p:extLst>
      <p:ext uri="{BB962C8B-B14F-4D97-AF65-F5344CB8AC3E}">
        <p14:creationId xmlns:p14="http://schemas.microsoft.com/office/powerpoint/2010/main" val="3373352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3DB21-2130-4A37-A8B1-4AC3E760B71F}"/>
              </a:ext>
            </a:extLst>
          </p:cNvPr>
          <p:cNvSpPr>
            <a:spLocks noGrp="1"/>
          </p:cNvSpPr>
          <p:nvPr>
            <p:ph type="title"/>
          </p:nvPr>
        </p:nvSpPr>
        <p:spPr>
          <a:xfrm>
            <a:off x="0" y="-24938"/>
            <a:ext cx="6216129" cy="925483"/>
          </a:xfrm>
        </p:spPr>
        <p:txBody>
          <a:bodyPr>
            <a:normAutofit/>
          </a:bodyPr>
          <a:lstStyle/>
          <a:p>
            <a:r>
              <a:rPr lang="en-US" dirty="0"/>
              <a:t>Use case </a:t>
            </a:r>
            <a:r>
              <a:rPr lang="en-US" dirty="0" err="1"/>
              <a:t>Angajat</a:t>
            </a:r>
            <a:endParaRPr lang="en-US" dirty="0"/>
          </a:p>
        </p:txBody>
      </p:sp>
      <p:pic>
        <p:nvPicPr>
          <p:cNvPr id="5" name="Content Placeholder 4">
            <a:extLst>
              <a:ext uri="{FF2B5EF4-FFF2-40B4-BE49-F238E27FC236}">
                <a16:creationId xmlns:a16="http://schemas.microsoft.com/office/drawing/2014/main" id="{F124D3CF-00C5-4863-AE7F-CD0D0E5C38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20444" y="280737"/>
            <a:ext cx="5496414" cy="3148263"/>
          </a:xfrm>
        </p:spPr>
      </p:pic>
      <p:sp>
        <p:nvSpPr>
          <p:cNvPr id="3" name="TextBox 2">
            <a:extLst>
              <a:ext uri="{FF2B5EF4-FFF2-40B4-BE49-F238E27FC236}">
                <a16:creationId xmlns:a16="http://schemas.microsoft.com/office/drawing/2014/main" id="{A9FE8BA7-C0DD-4BD8-82D3-7E3DC9935526}"/>
              </a:ext>
            </a:extLst>
          </p:cNvPr>
          <p:cNvSpPr txBox="1"/>
          <p:nvPr/>
        </p:nvSpPr>
        <p:spPr>
          <a:xfrm>
            <a:off x="220134" y="1313411"/>
            <a:ext cx="5199763" cy="1200329"/>
          </a:xfrm>
          <a:prstGeom prst="rect">
            <a:avLst/>
          </a:prstGeom>
          <a:noFill/>
        </p:spPr>
        <p:txBody>
          <a:bodyPr wrap="square" rtlCol="0">
            <a:spAutoFit/>
          </a:bodyPr>
          <a:lstStyle/>
          <a:p>
            <a:r>
              <a:rPr lang="ro-RO" sz="1800" dirty="0">
                <a:effectLst/>
                <a:latin typeface="Times New Roman" panose="02020603050405020304" pitchFamily="18" charset="0"/>
                <a:ea typeface="Times New Roman" panose="02020603050405020304" pitchFamily="18" charset="0"/>
              </a:rPr>
              <a:t>Angajatul este persoana care lucreaza la aeroport sau pe avion si doreste sa isi verifice programul de lucru sau zborurile la care trebuie sa fie prezent.</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837366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BECEE-7F37-459B-A329-76C61E434B72}"/>
              </a:ext>
            </a:extLst>
          </p:cNvPr>
          <p:cNvSpPr>
            <a:spLocks noGrp="1"/>
          </p:cNvSpPr>
          <p:nvPr>
            <p:ph type="title"/>
          </p:nvPr>
        </p:nvSpPr>
        <p:spPr>
          <a:xfrm>
            <a:off x="0" y="0"/>
            <a:ext cx="8596668" cy="1320800"/>
          </a:xfrm>
        </p:spPr>
        <p:txBody>
          <a:bodyPr/>
          <a:lstStyle/>
          <a:p>
            <a:r>
              <a:rPr lang="en-US" dirty="0" err="1"/>
              <a:t>Diagrama</a:t>
            </a:r>
            <a:r>
              <a:rPr lang="en-US" dirty="0"/>
              <a:t> </a:t>
            </a:r>
            <a:r>
              <a:rPr lang="en-US" dirty="0" err="1"/>
              <a:t>generala</a:t>
            </a:r>
            <a:r>
              <a:rPr lang="en-US" dirty="0"/>
              <a:t> a </a:t>
            </a:r>
            <a:r>
              <a:rPr lang="en-US" dirty="0" err="1"/>
              <a:t>sistemului</a:t>
            </a:r>
            <a:endParaRPr lang="en-US" dirty="0"/>
          </a:p>
        </p:txBody>
      </p:sp>
      <p:pic>
        <p:nvPicPr>
          <p:cNvPr id="5" name="Content Placeholder 4">
            <a:extLst>
              <a:ext uri="{FF2B5EF4-FFF2-40B4-BE49-F238E27FC236}">
                <a16:creationId xmlns:a16="http://schemas.microsoft.com/office/drawing/2014/main" id="{33A73BCF-443E-43E0-AE0C-7A50838308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 y="660400"/>
            <a:ext cx="8596312" cy="1899772"/>
          </a:xfrm>
        </p:spPr>
      </p:pic>
      <p:sp>
        <p:nvSpPr>
          <p:cNvPr id="3" name="TextBox 2">
            <a:extLst>
              <a:ext uri="{FF2B5EF4-FFF2-40B4-BE49-F238E27FC236}">
                <a16:creationId xmlns:a16="http://schemas.microsoft.com/office/drawing/2014/main" id="{8E7923D8-DCD2-4B0B-9512-90D0C47FE355}"/>
              </a:ext>
            </a:extLst>
          </p:cNvPr>
          <p:cNvSpPr txBox="1"/>
          <p:nvPr/>
        </p:nvSpPr>
        <p:spPr>
          <a:xfrm>
            <a:off x="324196" y="2860162"/>
            <a:ext cx="8528859" cy="2308324"/>
          </a:xfrm>
          <a:prstGeom prst="rect">
            <a:avLst/>
          </a:prstGeom>
          <a:noFill/>
        </p:spPr>
        <p:txBody>
          <a:bodyPr wrap="square" rtlCol="0">
            <a:spAutoFit/>
          </a:bodyPr>
          <a:lstStyle/>
          <a:p>
            <a:r>
              <a:rPr lang="en-US" sz="1800" dirty="0" err="1">
                <a:effectLst/>
                <a:latin typeface="Times New Roman" panose="02020603050405020304" pitchFamily="18" charset="0"/>
                <a:ea typeface="Times New Roman" panose="02020603050405020304" pitchFamily="18" charset="0"/>
              </a:rPr>
              <a:t>Diagrama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Arhitectura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Generala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Sistem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reprezinta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principiul</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baza</a:t>
            </a:r>
            <a:r>
              <a:rPr lang="en-US" sz="1800" dirty="0">
                <a:effectLst/>
                <a:latin typeface="Times New Roman" panose="02020603050405020304" pitchFamily="18" charset="0"/>
                <a:ea typeface="Times New Roman" panose="02020603050405020304" pitchFamily="18" charset="0"/>
              </a:rPr>
              <a:t> al </a:t>
            </a:r>
            <a:r>
              <a:rPr lang="en-US" sz="1800" dirty="0" err="1">
                <a:effectLst/>
                <a:latin typeface="Times New Roman" panose="02020603050405020304" pitchFamily="18" charset="0"/>
                <a:ea typeface="Times New Roman" panose="02020603050405020304" pitchFamily="18" charset="0"/>
              </a:rPr>
              <a:t>functionarii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proiectului</a:t>
            </a:r>
            <a:r>
              <a:rPr lang="en-US" sz="1800" dirty="0">
                <a:effectLst/>
                <a:latin typeface="Times New Roman" panose="02020603050405020304" pitchFamily="18" charset="0"/>
                <a:ea typeface="Times New Roman" panose="02020603050405020304" pitchFamily="18" charset="0"/>
              </a:rPr>
              <a:t>. User-ul(indifferent de </a:t>
            </a:r>
            <a:r>
              <a:rPr lang="en-US" sz="1800" dirty="0" err="1">
                <a:effectLst/>
                <a:latin typeface="Times New Roman" panose="02020603050405020304" pitchFamily="18" charset="0"/>
                <a:ea typeface="Times New Roman" panose="02020603050405020304" pitchFamily="18" charset="0"/>
              </a:rPr>
              <a:t>tipul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acestuia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acceseaza</a:t>
            </a:r>
            <a:r>
              <a:rPr lang="en-US" sz="1800" dirty="0">
                <a:effectLst/>
                <a:latin typeface="Times New Roman" panose="02020603050405020304" pitchFamily="18" charset="0"/>
                <a:ea typeface="Times New Roman" panose="02020603050405020304" pitchFamily="18" charset="0"/>
              </a:rPr>
              <a:t> site-ul </a:t>
            </a:r>
            <a:r>
              <a:rPr lang="en-US" sz="1800" dirty="0" err="1">
                <a:effectLst/>
                <a:latin typeface="Times New Roman" panose="02020603050405020304" pitchFamily="18" charset="0"/>
                <a:ea typeface="Times New Roman" panose="02020603050405020304" pitchFamily="18" charset="0"/>
              </a:rPr>
              <a:t>aplicatiei</a:t>
            </a:r>
            <a:r>
              <a:rPr lang="en-US" sz="1800" dirty="0">
                <a:effectLst/>
                <a:latin typeface="Times New Roman" panose="02020603050405020304" pitchFamily="18" charset="0"/>
                <a:ea typeface="Times New Roman" panose="02020603050405020304" pitchFamily="18" charset="0"/>
              </a:rPr>
              <a:t> din browser, </a:t>
            </a:r>
            <a:r>
              <a:rPr lang="en-US" sz="1800" dirty="0" err="1">
                <a:effectLst/>
                <a:latin typeface="Times New Roman" panose="02020603050405020304" pitchFamily="18" charset="0"/>
                <a:ea typeface="Times New Roman" panose="02020603050405020304" pitchFamily="18" charset="0"/>
              </a:rPr>
              <a:t>unde</a:t>
            </a:r>
            <a:r>
              <a:rPr lang="en-US" sz="1800" dirty="0">
                <a:effectLst/>
                <a:latin typeface="Times New Roman" panose="02020603050405020304" pitchFamily="18" charset="0"/>
                <a:ea typeface="Times New Roman" panose="02020603050405020304" pitchFamily="18" charset="0"/>
              </a:rPr>
              <a:t> face </a:t>
            </a:r>
            <a:r>
              <a:rPr lang="en-US" sz="1800" dirty="0" err="1">
                <a:effectLst/>
                <a:latin typeface="Times New Roman" panose="02020603050405020304" pitchFamily="18" charset="0"/>
                <a:ea typeface="Times New Roman" panose="02020603050405020304" pitchFamily="18" charset="0"/>
              </a:rPr>
              <a:t>anumite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actiuni</a:t>
            </a:r>
            <a:r>
              <a:rPr lang="en-US" sz="1800" dirty="0">
                <a:effectLst/>
                <a:latin typeface="Times New Roman" panose="02020603050405020304" pitchFamily="18" charset="0"/>
                <a:ea typeface="Times New Roman" panose="02020603050405020304" pitchFamily="18" charset="0"/>
              </a:rPr>
              <a:t>, care sunt </a:t>
            </a:r>
            <a:r>
              <a:rPr lang="en-US" sz="1800" dirty="0" err="1">
                <a:effectLst/>
                <a:latin typeface="Times New Roman" panose="02020603050405020304" pitchFamily="18" charset="0"/>
                <a:ea typeface="Times New Roman" panose="02020603050405020304" pitchFamily="18" charset="0"/>
              </a:rPr>
              <a:t>transmise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serverului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unde</a:t>
            </a:r>
            <a:r>
              <a:rPr lang="en-US" sz="1800" dirty="0">
                <a:effectLst/>
                <a:latin typeface="Times New Roman" panose="02020603050405020304" pitchFamily="18" charset="0"/>
                <a:ea typeface="Times New Roman" panose="02020603050405020304" pitchFamily="18" charset="0"/>
              </a:rPr>
              <a:t> sunt evaluate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daca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cazul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prelucrate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sau</a:t>
            </a:r>
            <a:r>
              <a:rPr lang="en-US" sz="1800" dirty="0">
                <a:effectLst/>
                <a:latin typeface="Times New Roman" panose="02020603050405020304" pitchFamily="18" charset="0"/>
                <a:ea typeface="Times New Roman" panose="02020603050405020304" pitchFamily="18" charset="0"/>
              </a:rPr>
              <a:t> se fac </a:t>
            </a:r>
            <a:r>
              <a:rPr lang="en-US" sz="1800" dirty="0" err="1">
                <a:effectLst/>
                <a:latin typeface="Times New Roman" panose="02020603050405020304" pitchFamily="18" charset="0"/>
                <a:ea typeface="Times New Roman" panose="02020603050405020304" pitchFamily="18" charset="0"/>
              </a:rPr>
              <a:t>modificarile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necesare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bazei</a:t>
            </a:r>
            <a:r>
              <a:rPr lang="en-US" sz="1800" dirty="0">
                <a:effectLst/>
                <a:latin typeface="Times New Roman" panose="02020603050405020304" pitchFamily="18" charset="0"/>
                <a:ea typeface="Times New Roman" panose="02020603050405020304" pitchFamily="18" charset="0"/>
              </a:rPr>
              <a:t> de date. </a:t>
            </a:r>
            <a:r>
              <a:rPr lang="en-US" sz="1800" dirty="0" err="1">
                <a:effectLst/>
                <a:latin typeface="Times New Roman" panose="02020603050405020304" pitchFamily="18" charset="0"/>
                <a:ea typeface="Times New Roman" panose="02020603050405020304" pitchFamily="18" charset="0"/>
              </a:rPr>
              <a:t>Aceasta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diagrama</a:t>
            </a:r>
            <a:r>
              <a:rPr lang="en-US" sz="1800" dirty="0">
                <a:effectLst/>
                <a:latin typeface="Times New Roman" panose="02020603050405020304" pitchFamily="18" charset="0"/>
                <a:ea typeface="Times New Roman" panose="02020603050405020304" pitchFamily="18" charset="0"/>
              </a:rPr>
              <a:t> are </a:t>
            </a:r>
            <a:r>
              <a:rPr lang="en-US" sz="1800" dirty="0" err="1">
                <a:effectLst/>
                <a:latin typeface="Times New Roman" panose="02020603050405020304" pitchFamily="18" charset="0"/>
                <a:ea typeface="Times New Roman" panose="02020603050405020304" pitchFamily="18" charset="0"/>
              </a:rPr>
              <a:t>rolul</a:t>
            </a:r>
            <a:r>
              <a:rPr lang="en-US" sz="1800" dirty="0">
                <a:effectLst/>
                <a:latin typeface="Times New Roman" panose="02020603050405020304" pitchFamily="18" charset="0"/>
                <a:ea typeface="Times New Roman" panose="02020603050405020304" pitchFamily="18" charset="0"/>
              </a:rPr>
              <a:t> de a </a:t>
            </a:r>
            <a:r>
              <a:rPr lang="en-US" sz="1800" dirty="0" err="1">
                <a:effectLst/>
                <a:latin typeface="Times New Roman" panose="02020603050405020304" pitchFamily="18" charset="0"/>
                <a:ea typeface="Times New Roman" panose="02020603050405020304" pitchFamily="18" charset="0"/>
              </a:rPr>
              <a:t>prezenta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intr</a:t>
            </a:r>
            <a:r>
              <a:rPr lang="en-US" sz="1800" dirty="0">
                <a:effectLst/>
                <a:latin typeface="Times New Roman" panose="02020603050405020304" pitchFamily="18" charset="0"/>
                <a:ea typeface="Times New Roman" panose="02020603050405020304" pitchFamily="18" charset="0"/>
              </a:rPr>
              <a:t>-un mod </a:t>
            </a:r>
            <a:r>
              <a:rPr lang="en-US" sz="1800" dirty="0" err="1">
                <a:effectLst/>
                <a:latin typeface="Times New Roman" panose="02020603050405020304" pitchFamily="18" charset="0"/>
                <a:ea typeface="Times New Roman" panose="02020603050405020304" pitchFamily="18" charset="0"/>
              </a:rPr>
              <a:t>simplu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inteligibil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ordinea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modul</a:t>
            </a:r>
            <a:r>
              <a:rPr lang="en-US" sz="1800" dirty="0">
                <a:effectLst/>
                <a:latin typeface="Times New Roman" panose="02020603050405020304" pitchFamily="18" charset="0"/>
                <a:ea typeface="Times New Roman" panose="02020603050405020304" pitchFamily="18" charset="0"/>
              </a:rPr>
              <a:t> de transport al </a:t>
            </a:r>
            <a:r>
              <a:rPr lang="en-US" sz="1800" dirty="0" err="1">
                <a:effectLst/>
                <a:latin typeface="Times New Roman" panose="02020603050405020304" pitchFamily="18" charset="0"/>
                <a:ea typeface="Times New Roman" panose="02020603050405020304" pitchFamily="18" charset="0"/>
              </a:rPr>
              <a:t>informatiei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Serverul</a:t>
            </a:r>
            <a:r>
              <a:rPr lang="en-US" sz="1800" dirty="0">
                <a:effectLst/>
                <a:latin typeface="Times New Roman" panose="02020603050405020304" pitchFamily="18" charset="0"/>
                <a:ea typeface="Times New Roman" panose="02020603050405020304" pitchFamily="18" charset="0"/>
              </a:rPr>
              <a:t> de internet cu </a:t>
            </a:r>
            <a:r>
              <a:rPr lang="en-US" sz="1800" dirty="0" err="1">
                <a:effectLst/>
                <a:latin typeface="Times New Roman" panose="02020603050405020304" pitchFamily="18" charset="0"/>
                <a:ea typeface="Times New Roman" panose="02020603050405020304" pitchFamily="18" charset="0"/>
              </a:rPr>
              <a:t>ajutorul</a:t>
            </a:r>
            <a:r>
              <a:rPr lang="en-US" sz="1800" dirty="0">
                <a:effectLst/>
                <a:latin typeface="Times New Roman" panose="02020603050405020304" pitchFamily="18" charset="0"/>
                <a:ea typeface="Times New Roman" panose="02020603050405020304" pitchFamily="18" charset="0"/>
              </a:rPr>
              <a:t> framework-</a:t>
            </a:r>
            <a:r>
              <a:rPr lang="en-US" sz="1800" dirty="0" err="1">
                <a:effectLst/>
                <a:latin typeface="Times New Roman" panose="02020603050405020304" pitchFamily="18" charset="0"/>
                <a:ea typeface="Times New Roman" panose="02020603050405020304" pitchFamily="18" charset="0"/>
              </a:rPr>
              <a:t>ului</a:t>
            </a:r>
            <a:r>
              <a:rPr lang="en-US" sz="1800" dirty="0">
                <a:effectLst/>
                <a:latin typeface="Times New Roman" panose="02020603050405020304" pitchFamily="18" charset="0"/>
                <a:ea typeface="Times New Roman" panose="02020603050405020304" pitchFamily="18" charset="0"/>
              </a:rPr>
              <a:t> Spring are </a:t>
            </a:r>
            <a:r>
              <a:rPr lang="en-US" sz="1800" dirty="0" err="1">
                <a:effectLst/>
                <a:latin typeface="Times New Roman" panose="02020603050405020304" pitchFamily="18" charset="0"/>
                <a:ea typeface="Times New Roman" panose="02020603050405020304" pitchFamily="18" charset="0"/>
              </a:rPr>
              <a:t>rolul</a:t>
            </a:r>
            <a:r>
              <a:rPr lang="en-US" sz="1800" dirty="0">
                <a:effectLst/>
                <a:latin typeface="Times New Roman" panose="02020603050405020304" pitchFamily="18" charset="0"/>
                <a:ea typeface="Times New Roman" panose="02020603050405020304" pitchFamily="18" charset="0"/>
              </a:rPr>
              <a:t> de a face </a:t>
            </a:r>
            <a:r>
              <a:rPr lang="en-US" sz="1800" dirty="0" err="1">
                <a:effectLst/>
                <a:latin typeface="Times New Roman" panose="02020603050405020304" pitchFamily="18" charset="0"/>
                <a:ea typeface="Times New Roman" panose="02020603050405020304" pitchFamily="18" charset="0"/>
              </a:rPr>
              <a:t>legatura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intre</a:t>
            </a:r>
            <a:r>
              <a:rPr lang="en-US" sz="1800" dirty="0">
                <a:effectLst/>
                <a:latin typeface="Times New Roman" panose="02020603050405020304" pitchFamily="18" charset="0"/>
                <a:ea typeface="Times New Roman" panose="02020603050405020304" pitchFamily="18" charset="0"/>
              </a:rPr>
              <a:t> browser cu </a:t>
            </a:r>
            <a:r>
              <a:rPr lang="en-US" sz="1800" dirty="0" err="1">
                <a:effectLst/>
                <a:latin typeface="Times New Roman" panose="02020603050405020304" pitchFamily="18" charset="0"/>
                <a:ea typeface="Times New Roman" panose="02020603050405020304" pitchFamily="18" charset="0"/>
              </a:rPr>
              <a:t>necesitatile</a:t>
            </a:r>
            <a:r>
              <a:rPr lang="en-US" sz="1800" dirty="0">
                <a:effectLst/>
                <a:latin typeface="Times New Roman" panose="02020603050405020304" pitchFamily="18" charset="0"/>
                <a:ea typeface="Times New Roman" panose="02020603050405020304" pitchFamily="18" charset="0"/>
              </a:rPr>
              <a:t> user-</a:t>
            </a:r>
            <a:r>
              <a:rPr lang="en-US" sz="1800" dirty="0" err="1">
                <a:effectLst/>
                <a:latin typeface="Times New Roman" panose="02020603050405020304" pitchFamily="18" charset="0"/>
                <a:ea typeface="Times New Roman" panose="02020603050405020304" pitchFamily="18" charset="0"/>
              </a:rPr>
              <a:t>ului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query-urile </a:t>
            </a:r>
            <a:r>
              <a:rPr lang="en-US" sz="1800" dirty="0" err="1">
                <a:effectLst/>
                <a:latin typeface="Times New Roman" panose="02020603050405020304" pitchFamily="18" charset="0"/>
                <a:ea typeface="Times New Roman" panose="02020603050405020304" pitchFamily="18" charset="0"/>
              </a:rPr>
              <a:t>sau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datele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necesare</a:t>
            </a:r>
            <a:r>
              <a:rPr lang="en-US" sz="1800" dirty="0">
                <a:effectLst/>
                <a:latin typeface="Times New Roman" panose="02020603050405020304" pitchFamily="18" charset="0"/>
                <a:ea typeface="Times New Roman" panose="02020603050405020304" pitchFamily="18" charset="0"/>
              </a:rPr>
              <a:t> din </a:t>
            </a:r>
            <a:r>
              <a:rPr lang="en-US" sz="1800" dirty="0" err="1">
                <a:effectLst/>
                <a:latin typeface="Times New Roman" panose="02020603050405020304" pitchFamily="18" charset="0"/>
                <a:ea typeface="Times New Roman" panose="02020603050405020304" pitchFamily="18" charset="0"/>
              </a:rPr>
              <a:t>baza</a:t>
            </a:r>
            <a:r>
              <a:rPr lang="en-US" sz="1800" dirty="0">
                <a:effectLst/>
                <a:latin typeface="Times New Roman" panose="02020603050405020304" pitchFamily="18" charset="0"/>
                <a:ea typeface="Times New Roman" panose="02020603050405020304" pitchFamily="18" charset="0"/>
              </a:rPr>
              <a:t> de date.</a:t>
            </a:r>
          </a:p>
          <a:p>
            <a:r>
              <a:rPr lang="en-US" dirty="0"/>
              <a:t> </a:t>
            </a:r>
          </a:p>
        </p:txBody>
      </p:sp>
    </p:spTree>
    <p:extLst>
      <p:ext uri="{BB962C8B-B14F-4D97-AF65-F5344CB8AC3E}">
        <p14:creationId xmlns:p14="http://schemas.microsoft.com/office/powerpoint/2010/main" val="3966499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1A749-32C6-46BF-AFEE-058D6CD63067}"/>
              </a:ext>
            </a:extLst>
          </p:cNvPr>
          <p:cNvSpPr>
            <a:spLocks noGrp="1"/>
          </p:cNvSpPr>
          <p:nvPr>
            <p:ph type="title"/>
          </p:nvPr>
        </p:nvSpPr>
        <p:spPr>
          <a:xfrm>
            <a:off x="0" y="0"/>
            <a:ext cx="6004325" cy="1000297"/>
          </a:xfrm>
        </p:spPr>
        <p:txBody>
          <a:bodyPr/>
          <a:lstStyle/>
          <a:p>
            <a:r>
              <a:rPr lang="en-US" dirty="0" err="1"/>
              <a:t>Diagrama</a:t>
            </a:r>
            <a:r>
              <a:rPr lang="en-US" dirty="0"/>
              <a:t> de </a:t>
            </a:r>
            <a:r>
              <a:rPr lang="en-US" dirty="0" err="1"/>
              <a:t>clase</a:t>
            </a:r>
            <a:endParaRPr lang="en-US" dirty="0"/>
          </a:p>
        </p:txBody>
      </p:sp>
      <p:pic>
        <p:nvPicPr>
          <p:cNvPr id="5" name="Content Placeholder 4">
            <a:extLst>
              <a:ext uri="{FF2B5EF4-FFF2-40B4-BE49-F238E27FC236}">
                <a16:creationId xmlns:a16="http://schemas.microsoft.com/office/drawing/2014/main" id="{15D4A5E8-EC7E-4FF6-BAD4-5F76CB27B4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250" y="683757"/>
            <a:ext cx="4916219" cy="6099427"/>
          </a:xfrm>
        </p:spPr>
      </p:pic>
      <p:sp>
        <p:nvSpPr>
          <p:cNvPr id="3" name="TextBox 2">
            <a:extLst>
              <a:ext uri="{FF2B5EF4-FFF2-40B4-BE49-F238E27FC236}">
                <a16:creationId xmlns:a16="http://schemas.microsoft.com/office/drawing/2014/main" id="{A2947D2F-4C48-4EEA-AE33-49E994101007}"/>
              </a:ext>
            </a:extLst>
          </p:cNvPr>
          <p:cNvSpPr txBox="1"/>
          <p:nvPr/>
        </p:nvSpPr>
        <p:spPr>
          <a:xfrm>
            <a:off x="5678054" y="474345"/>
            <a:ext cx="3690389" cy="5909310"/>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rPr>
              <a:t>In </a:t>
            </a:r>
            <a:r>
              <a:rPr lang="en-US" sz="1800" dirty="0" err="1">
                <a:effectLst/>
                <a:latin typeface="Times New Roman" panose="02020603050405020304" pitchFamily="18" charset="0"/>
                <a:ea typeface="Times New Roman" panose="02020603050405020304" pitchFamily="18" charset="0"/>
              </a:rPr>
              <a:t>ingineria</a:t>
            </a:r>
            <a:r>
              <a:rPr lang="en-US" sz="1800" dirty="0">
                <a:effectLst/>
                <a:latin typeface="Times New Roman" panose="02020603050405020304" pitchFamily="18" charset="0"/>
                <a:ea typeface="Times New Roman" panose="02020603050405020304" pitchFamily="18" charset="0"/>
              </a:rPr>
              <a:t> software o </a:t>
            </a:r>
            <a:r>
              <a:rPr lang="en-US" sz="1800" dirty="0" err="1">
                <a:effectLst/>
                <a:latin typeface="Times New Roman" panose="02020603050405020304" pitchFamily="18" charset="0"/>
                <a:ea typeface="Times New Roman" panose="02020603050405020304" pitchFamily="18" charset="0"/>
              </a:rPr>
              <a:t>diagrama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clase</a:t>
            </a:r>
            <a:r>
              <a:rPr lang="en-US" sz="1800" dirty="0">
                <a:effectLst/>
                <a:latin typeface="Times New Roman" panose="02020603050405020304" pitchFamily="18" charset="0"/>
                <a:ea typeface="Times New Roman" panose="02020603050405020304" pitchFamily="18" charset="0"/>
              </a:rPr>
              <a:t> in </a:t>
            </a:r>
            <a:r>
              <a:rPr lang="en-US" sz="1800" dirty="0" err="1">
                <a:effectLst/>
                <a:latin typeface="Times New Roman" panose="02020603050405020304" pitchFamily="18" charset="0"/>
                <a:ea typeface="Times New Roman" panose="02020603050405020304" pitchFamily="18" charset="0"/>
              </a:rPr>
              <a:t>limbajul</a:t>
            </a:r>
            <a:r>
              <a:rPr lang="en-US" sz="1800" dirty="0">
                <a:effectLst/>
                <a:latin typeface="Times New Roman" panose="02020603050405020304" pitchFamily="18" charset="0"/>
                <a:ea typeface="Times New Roman" panose="02020603050405020304" pitchFamily="18" charset="0"/>
              </a:rPr>
              <a:t> UML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o </a:t>
            </a:r>
            <a:r>
              <a:rPr lang="en-US" sz="1800" dirty="0" err="1">
                <a:effectLst/>
                <a:latin typeface="Times New Roman" panose="02020603050405020304" pitchFamily="18" charset="0"/>
                <a:ea typeface="Times New Roman" panose="02020603050405020304" pitchFamily="18" charset="0"/>
              </a:rPr>
              <a:t>structura</a:t>
            </a:r>
            <a:r>
              <a:rPr lang="en-US" sz="1800" dirty="0">
                <a:effectLst/>
                <a:latin typeface="Times New Roman" panose="02020603050405020304" pitchFamily="18" charset="0"/>
                <a:ea typeface="Times New Roman" panose="02020603050405020304" pitchFamily="18" charset="0"/>
              </a:rPr>
              <a:t> de tip diagram ace </a:t>
            </a:r>
            <a:r>
              <a:rPr lang="en-US" sz="1800" dirty="0" err="1">
                <a:effectLst/>
                <a:latin typeface="Times New Roman" panose="02020603050405020304" pitchFamily="18" charset="0"/>
                <a:ea typeface="Times New Roman" panose="02020603050405020304" pitchFamily="18" charset="0"/>
              </a:rPr>
              <a:t>descrie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structura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unui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sitem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prin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reprezentarea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claselor,atributelor,metodelor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relatiilor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dintre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acestea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asemenea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aceasta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modelul</a:t>
            </a:r>
            <a:r>
              <a:rPr lang="en-US" sz="1800" dirty="0">
                <a:effectLst/>
                <a:latin typeface="Times New Roman" panose="02020603050405020304" pitchFamily="18" charset="0"/>
                <a:ea typeface="Times New Roman" panose="02020603050405020304" pitchFamily="18" charset="0"/>
              </a:rPr>
              <a:t> principal pe care se </a:t>
            </a:r>
            <a:r>
              <a:rPr lang="en-US" sz="1800" dirty="0" err="1">
                <a:effectLst/>
                <a:latin typeface="Times New Roman" panose="02020603050405020304" pitchFamily="18" charset="0"/>
                <a:ea typeface="Times New Roman" panose="02020603050405020304" pitchFamily="18" charset="0"/>
              </a:rPr>
              <a:t>bazeaza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modelarea</a:t>
            </a:r>
            <a:r>
              <a:rPr lang="en-US" sz="1800" dirty="0">
                <a:effectLst/>
                <a:latin typeface="Times New Roman" panose="02020603050405020304" pitchFamily="18" charset="0"/>
                <a:ea typeface="Times New Roman" panose="02020603050405020304" pitchFamily="18" charset="0"/>
              </a:rPr>
              <a:t> POO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folosita</a:t>
            </a:r>
            <a:r>
              <a:rPr lang="en-US" sz="1800" dirty="0">
                <a:effectLst/>
                <a:latin typeface="Times New Roman" panose="02020603050405020304" pitchFamily="18" charset="0"/>
                <a:ea typeface="Times New Roman" panose="02020603050405020304" pitchFamily="18" charset="0"/>
              </a:rPr>
              <a:t> in general </a:t>
            </a:r>
            <a:r>
              <a:rPr lang="en-US" sz="1800" dirty="0" err="1">
                <a:effectLst/>
                <a:latin typeface="Times New Roman" panose="02020603050405020304" pitchFamily="18" charset="0"/>
                <a:ea typeface="Times New Roman" panose="02020603050405020304" pitchFamily="18" charset="0"/>
              </a:rPr>
              <a:t>pentru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modelarea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conceptuala</a:t>
            </a:r>
            <a:r>
              <a:rPr lang="en-US" sz="1800" dirty="0">
                <a:effectLst/>
                <a:latin typeface="Times New Roman" panose="02020603050405020304" pitchFamily="18" charset="0"/>
                <a:ea typeface="Times New Roman" panose="02020603050405020304" pitchFamily="18" charset="0"/>
              </a:rPr>
              <a:t> a </a:t>
            </a:r>
            <a:r>
              <a:rPr lang="en-US" sz="1800" dirty="0" err="1">
                <a:effectLst/>
                <a:latin typeface="Times New Roman" panose="02020603050405020304" pitchFamily="18" charset="0"/>
                <a:ea typeface="Times New Roman" panose="02020603050405020304" pitchFamily="18" charset="0"/>
              </a:rPr>
              <a:t>structurii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unei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aplicatii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detalierea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translatarii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modelelor</a:t>
            </a:r>
            <a:r>
              <a:rPr lang="en-US" sz="1800" dirty="0">
                <a:effectLst/>
                <a:latin typeface="Times New Roman" panose="02020603050405020304" pitchFamily="18" charset="0"/>
                <a:ea typeface="Times New Roman" panose="02020603050405020304" pitchFamily="18" charset="0"/>
              </a:rPr>
              <a:t> in </a:t>
            </a:r>
            <a:r>
              <a:rPr lang="en-US" sz="1800" dirty="0" err="1">
                <a:effectLst/>
                <a:latin typeface="Times New Roman" panose="02020603050405020304" pitchFamily="18" charset="0"/>
                <a:ea typeface="Times New Roman" panose="02020603050405020304" pitchFamily="18" charset="0"/>
              </a:rPr>
              <a:t>limbaj</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programare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Exista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mai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multe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tipuri</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relatii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intre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clase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dependenta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asociere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agregare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compositie</a:t>
            </a:r>
            <a:r>
              <a:rPr lang="en-US" sz="1800" dirty="0">
                <a:effectLst/>
                <a:latin typeface="Times New Roman" panose="02020603050405020304" pitchFamily="18" charset="0"/>
                <a:ea typeface="Times New Roman" panose="02020603050405020304" pitchFamily="18" charset="0"/>
              </a:rPr>
              <a:t>. Pe </a:t>
            </a:r>
            <a:r>
              <a:rPr lang="en-US" sz="1800" dirty="0" err="1">
                <a:effectLst/>
                <a:latin typeface="Times New Roman" panose="02020603050405020304" pitchFamily="18" charset="0"/>
                <a:ea typeface="Times New Roman" panose="02020603050405020304" pitchFamily="18" charset="0"/>
              </a:rPr>
              <a:t>baza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acestor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relatii</a:t>
            </a:r>
            <a:r>
              <a:rPr lang="en-US" sz="1800" dirty="0">
                <a:effectLst/>
                <a:latin typeface="Times New Roman" panose="02020603050405020304" pitchFamily="18" charset="0"/>
                <a:ea typeface="Times New Roman" panose="02020603050405020304" pitchFamily="18" charset="0"/>
              </a:rPr>
              <a:t> o </a:t>
            </a:r>
            <a:r>
              <a:rPr lang="en-US" sz="1800" dirty="0" err="1">
                <a:effectLst/>
                <a:latin typeface="Times New Roman" panose="02020603050405020304" pitchFamily="18" charset="0"/>
                <a:ea typeface="Times New Roman" panose="02020603050405020304" pitchFamily="18" charset="0"/>
              </a:rPr>
              <a:t>clasa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poate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foloseasca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extinda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mosteneasca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a:t>
            </a:r>
            <a:r>
              <a:rPr lang="en-US" sz="1800" dirty="0">
                <a:effectLst/>
                <a:latin typeface="Times New Roman" panose="02020603050405020304" pitchFamily="18" charset="0"/>
                <a:ea typeface="Times New Roman" panose="02020603050405020304" pitchFamily="18" charset="0"/>
              </a:rPr>
              <a:t> fie </a:t>
            </a:r>
            <a:r>
              <a:rPr lang="en-US" sz="1800" dirty="0" err="1">
                <a:effectLst/>
                <a:latin typeface="Times New Roman" panose="02020603050405020304" pitchFamily="18" charset="0"/>
                <a:ea typeface="Times New Roman" panose="02020603050405020304" pitchFamily="18" charset="0"/>
              </a:rPr>
              <a:t>subtipul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altei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clase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tinandu</a:t>
            </a:r>
            <a:r>
              <a:rPr lang="en-US" sz="1800" dirty="0">
                <a:effectLst/>
                <a:latin typeface="Times New Roman" panose="02020603050405020304" pitchFamily="18" charset="0"/>
                <a:ea typeface="Times New Roman" panose="02020603050405020304" pitchFamily="18" charset="0"/>
              </a:rPr>
              <a:t>-se </a:t>
            </a:r>
            <a:r>
              <a:rPr lang="en-US" sz="1800" dirty="0" err="1">
                <a:effectLst/>
                <a:latin typeface="Times New Roman" panose="02020603050405020304" pitchFamily="18" charset="0"/>
                <a:ea typeface="Times New Roman" panose="02020603050405020304" pitchFamily="18" charset="0"/>
              </a:rPr>
              <a:t>cont</a:t>
            </a:r>
            <a:r>
              <a:rPr lang="en-US" sz="1800" dirty="0">
                <a:effectLst/>
                <a:latin typeface="Times New Roman" panose="02020603050405020304" pitchFamily="18" charset="0"/>
                <a:ea typeface="Times New Roman" panose="02020603050405020304" pitchFamily="18" charset="0"/>
              </a:rPr>
              <a:t> de ordinal de </a:t>
            </a:r>
            <a:r>
              <a:rPr lang="en-US" sz="1800" dirty="0" err="1">
                <a:effectLst/>
                <a:latin typeface="Times New Roman" panose="02020603050405020304" pitchFamily="18" charset="0"/>
                <a:ea typeface="Times New Roman" panose="02020603050405020304" pitchFamily="18" charset="0"/>
              </a:rPr>
              <a:t>multiplicitate</a:t>
            </a:r>
            <a:r>
              <a:rPr lang="en-US" sz="1800" dirty="0">
                <a:effectLst/>
                <a:latin typeface="Times New Roman" panose="02020603050405020304" pitchFamily="18" charset="0"/>
                <a:ea typeface="Times New Roman" panose="02020603050405020304" pitchFamily="18" charset="0"/>
              </a:rPr>
              <a:t> al </a:t>
            </a:r>
            <a:r>
              <a:rPr lang="en-US" sz="1800" dirty="0" err="1">
                <a:effectLst/>
                <a:latin typeface="Times New Roman" panose="02020603050405020304" pitchFamily="18" charset="0"/>
                <a:ea typeface="Times New Roman" panose="02020603050405020304" pitchFamily="18" charset="0"/>
              </a:rPr>
              <a:t>acestora</a:t>
            </a:r>
            <a:r>
              <a:rPr lang="en-US" sz="1800" dirty="0">
                <a:effectLst/>
                <a:latin typeface="Times New Roman" panose="02020603050405020304" pitchFamily="18" charset="0"/>
                <a:ea typeface="Times New Roman" panose="02020603050405020304" pitchFamily="18" charset="0"/>
              </a:rPr>
              <a:t>. </a:t>
            </a:r>
          </a:p>
          <a:p>
            <a:endParaRPr lang="en-US" dirty="0"/>
          </a:p>
        </p:txBody>
      </p:sp>
    </p:spTree>
    <p:extLst>
      <p:ext uri="{BB962C8B-B14F-4D97-AF65-F5344CB8AC3E}">
        <p14:creationId xmlns:p14="http://schemas.microsoft.com/office/powerpoint/2010/main" val="2886465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36495-37C8-4F30-A1AB-78BAB48B50F5}"/>
              </a:ext>
            </a:extLst>
          </p:cNvPr>
          <p:cNvSpPr>
            <a:spLocks noGrp="1"/>
          </p:cNvSpPr>
          <p:nvPr>
            <p:ph type="title"/>
          </p:nvPr>
        </p:nvSpPr>
        <p:spPr>
          <a:xfrm>
            <a:off x="0" y="0"/>
            <a:ext cx="5659177" cy="725977"/>
          </a:xfrm>
        </p:spPr>
        <p:txBody>
          <a:bodyPr>
            <a:normAutofit/>
          </a:bodyPr>
          <a:lstStyle/>
          <a:p>
            <a:r>
              <a:rPr lang="en-US" dirty="0" err="1"/>
              <a:t>Diagrama</a:t>
            </a:r>
            <a:r>
              <a:rPr lang="en-US" dirty="0"/>
              <a:t> de </a:t>
            </a:r>
            <a:r>
              <a:rPr lang="en-US" dirty="0" err="1"/>
              <a:t>obiecte</a:t>
            </a:r>
            <a:endParaRPr lang="en-US" dirty="0"/>
          </a:p>
        </p:txBody>
      </p:sp>
      <p:pic>
        <p:nvPicPr>
          <p:cNvPr id="5" name="Content Placeholder 4">
            <a:extLst>
              <a:ext uri="{FF2B5EF4-FFF2-40B4-BE49-F238E27FC236}">
                <a16:creationId xmlns:a16="http://schemas.microsoft.com/office/drawing/2014/main" id="{6E8E1F99-7507-4351-9CC2-AD79CB5D42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9505" y="902974"/>
            <a:ext cx="4876864" cy="5197242"/>
          </a:xfrm>
        </p:spPr>
      </p:pic>
      <p:sp>
        <p:nvSpPr>
          <p:cNvPr id="4" name="TextBox 3">
            <a:extLst>
              <a:ext uri="{FF2B5EF4-FFF2-40B4-BE49-F238E27FC236}">
                <a16:creationId xmlns:a16="http://schemas.microsoft.com/office/drawing/2014/main" id="{A12AF10B-EB12-48E3-A31B-99F8C164ABC4}"/>
              </a:ext>
            </a:extLst>
          </p:cNvPr>
          <p:cNvSpPr txBox="1"/>
          <p:nvPr/>
        </p:nvSpPr>
        <p:spPr>
          <a:xfrm>
            <a:off x="5708992" y="843677"/>
            <a:ext cx="3715789" cy="2585323"/>
          </a:xfrm>
          <a:prstGeom prst="rect">
            <a:avLst/>
          </a:prstGeom>
          <a:noFill/>
        </p:spPr>
        <p:txBody>
          <a:bodyPr wrap="square" rtlCol="0">
            <a:spAutoFit/>
          </a:bodyPr>
          <a:lstStyle/>
          <a:p>
            <a:r>
              <a:rPr lang="en-US" sz="1800">
                <a:effectLst/>
                <a:latin typeface="Times New Roman" panose="02020603050405020304" pitchFamily="18" charset="0"/>
                <a:ea typeface="Times New Roman" panose="02020603050405020304" pitchFamily="18" charset="0"/>
              </a:rPr>
              <a:t>In limbajul UML, o diagrama de tip obiect se axeaza pe particularitatile unor seturi de obiecte si attribute, si legaturile dintre aceste instante. Diagramele de obiecte si diagramlele de clasa sunt foarte asemanatoare si aproape identice in notatie, ambele avand rolul de a vizualiza structura sistemului.</a:t>
            </a:r>
            <a:endParaRPr lang="en-US" dirty="0"/>
          </a:p>
        </p:txBody>
      </p:sp>
    </p:spTree>
    <p:extLst>
      <p:ext uri="{BB962C8B-B14F-4D97-AF65-F5344CB8AC3E}">
        <p14:creationId xmlns:p14="http://schemas.microsoft.com/office/powerpoint/2010/main" val="863076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4FE62-3FC5-4952-B597-00AFB2131856}"/>
              </a:ext>
            </a:extLst>
          </p:cNvPr>
          <p:cNvSpPr>
            <a:spLocks noGrp="1"/>
          </p:cNvSpPr>
          <p:nvPr>
            <p:ph type="title"/>
          </p:nvPr>
        </p:nvSpPr>
        <p:spPr>
          <a:xfrm>
            <a:off x="0" y="0"/>
            <a:ext cx="5343293" cy="1075112"/>
          </a:xfrm>
        </p:spPr>
        <p:txBody>
          <a:bodyPr>
            <a:normAutofit/>
          </a:bodyPr>
          <a:lstStyle/>
          <a:p>
            <a:r>
              <a:rPr lang="en-US" dirty="0" err="1"/>
              <a:t>Diagrama</a:t>
            </a:r>
            <a:r>
              <a:rPr lang="en-US" dirty="0"/>
              <a:t> de </a:t>
            </a:r>
            <a:r>
              <a:rPr lang="en-US" dirty="0" err="1"/>
              <a:t>secvente</a:t>
            </a:r>
            <a:endParaRPr lang="en-US" dirty="0"/>
          </a:p>
        </p:txBody>
      </p:sp>
      <p:pic>
        <p:nvPicPr>
          <p:cNvPr id="5" name="Content Placeholder 4">
            <a:extLst>
              <a:ext uri="{FF2B5EF4-FFF2-40B4-BE49-F238E27FC236}">
                <a16:creationId xmlns:a16="http://schemas.microsoft.com/office/drawing/2014/main" id="{A8C13CE5-DBDB-45B9-940F-6F49426FAB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433" y="931026"/>
            <a:ext cx="5723042" cy="3724101"/>
          </a:xfrm>
        </p:spPr>
      </p:pic>
      <p:sp>
        <p:nvSpPr>
          <p:cNvPr id="3" name="TextBox 2">
            <a:extLst>
              <a:ext uri="{FF2B5EF4-FFF2-40B4-BE49-F238E27FC236}">
                <a16:creationId xmlns:a16="http://schemas.microsoft.com/office/drawing/2014/main" id="{B280B405-10FA-447F-A679-C1C87E7A3159}"/>
              </a:ext>
            </a:extLst>
          </p:cNvPr>
          <p:cNvSpPr txBox="1"/>
          <p:nvPr/>
        </p:nvSpPr>
        <p:spPr>
          <a:xfrm>
            <a:off x="6575368" y="739833"/>
            <a:ext cx="2435630" cy="4801314"/>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rPr>
              <a:t>O </a:t>
            </a:r>
            <a:r>
              <a:rPr lang="en-US" sz="1800" dirty="0" err="1">
                <a:effectLst/>
                <a:latin typeface="Times New Roman" panose="02020603050405020304" pitchFamily="18" charset="0"/>
                <a:ea typeface="Times New Roman" panose="02020603050405020304" pitchFamily="18" charset="0"/>
              </a:rPr>
              <a:t>diagrama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sevcente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arata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interactiunile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obiectelor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aranjate</a:t>
            </a:r>
            <a:r>
              <a:rPr lang="en-US" sz="1800" dirty="0">
                <a:effectLst/>
                <a:latin typeface="Times New Roman" panose="02020603050405020304" pitchFamily="18" charset="0"/>
                <a:ea typeface="Times New Roman" panose="02020603050405020304" pitchFamily="18" charset="0"/>
              </a:rPr>
              <a:t> in </a:t>
            </a:r>
            <a:r>
              <a:rPr lang="en-US" sz="1800" dirty="0" err="1">
                <a:effectLst/>
                <a:latin typeface="Times New Roman" panose="02020603050405020304" pitchFamily="18" charset="0"/>
                <a:ea typeface="Times New Roman" panose="02020603050405020304" pitchFamily="18" charset="0"/>
              </a:rPr>
              <a:t>secventa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timp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arata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obiectele</a:t>
            </a:r>
            <a:r>
              <a:rPr lang="en-US" sz="1800" dirty="0">
                <a:effectLst/>
                <a:latin typeface="Times New Roman" panose="02020603050405020304" pitchFamily="18" charset="0"/>
                <a:ea typeface="Times New Roman" panose="02020603050405020304" pitchFamily="18" charset="0"/>
              </a:rPr>
              <a:t> implicate in </a:t>
            </a:r>
            <a:r>
              <a:rPr lang="en-US" sz="1800" dirty="0" err="1">
                <a:effectLst/>
                <a:latin typeface="Times New Roman" panose="02020603050405020304" pitchFamily="18" charset="0"/>
                <a:ea typeface="Times New Roman" panose="02020603050405020304" pitchFamily="18" charset="0"/>
              </a:rPr>
              <a:t>scenariul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secventa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mesaje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Diagramele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secvente</a:t>
            </a:r>
            <a:r>
              <a:rPr lang="en-US" sz="1800" dirty="0">
                <a:effectLst/>
                <a:latin typeface="Times New Roman" panose="02020603050405020304" pitchFamily="18" charset="0"/>
                <a:ea typeface="Times New Roman" panose="02020603050405020304" pitchFamily="18" charset="0"/>
              </a:rPr>
              <a:t> sunt </a:t>
            </a:r>
            <a:r>
              <a:rPr lang="en-US" sz="1800" dirty="0" err="1">
                <a:effectLst/>
                <a:latin typeface="Times New Roman" panose="02020603050405020304" pitchFamily="18" charset="0"/>
                <a:ea typeface="Times New Roman" panose="02020603050405020304" pitchFamily="18" charset="0"/>
              </a:rPr>
              <a:t>adesea</a:t>
            </a:r>
            <a:r>
              <a:rPr lang="en-US" sz="1800" dirty="0">
                <a:effectLst/>
                <a:latin typeface="Times New Roman" panose="02020603050405020304" pitchFamily="18" charset="0"/>
                <a:ea typeface="Times New Roman" panose="02020603050405020304" pitchFamily="18" charset="0"/>
              </a:rPr>
              <a:t> associate cu </a:t>
            </a:r>
            <a:r>
              <a:rPr lang="en-US" sz="1800" dirty="0" err="1">
                <a:effectLst/>
                <a:latin typeface="Times New Roman" panose="02020603050405020304" pitchFamily="18" charset="0"/>
                <a:ea typeface="Times New Roman" panose="02020603050405020304" pitchFamily="18" charset="0"/>
              </a:rPr>
              <a:t>realizari</a:t>
            </a:r>
            <a:r>
              <a:rPr lang="en-US" sz="1800" dirty="0">
                <a:effectLst/>
                <a:latin typeface="Times New Roman" panose="02020603050405020304" pitchFamily="18" charset="0"/>
                <a:ea typeface="Times New Roman" panose="02020603050405020304" pitchFamily="18" charset="0"/>
              </a:rPr>
              <a:t> use case in </a:t>
            </a:r>
            <a:r>
              <a:rPr lang="en-US" sz="1800" dirty="0" err="1">
                <a:effectLst/>
                <a:latin typeface="Times New Roman" panose="02020603050405020304" pitchFamily="18" charset="0"/>
                <a:ea typeface="Times New Roman" panose="02020603050405020304" pitchFamily="18" charset="0"/>
              </a:rPr>
              <a:t>viziunea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logica</a:t>
            </a:r>
            <a:r>
              <a:rPr lang="en-US" sz="1800" dirty="0">
                <a:effectLst/>
                <a:latin typeface="Times New Roman" panose="02020603050405020304" pitchFamily="18" charset="0"/>
                <a:ea typeface="Times New Roman" panose="02020603050405020304" pitchFamily="18" charset="0"/>
              </a:rPr>
              <a:t> a </a:t>
            </a:r>
            <a:r>
              <a:rPr lang="en-US" sz="1800" dirty="0" err="1">
                <a:effectLst/>
                <a:latin typeface="Times New Roman" panose="02020603050405020304" pitchFamily="18" charset="0"/>
                <a:ea typeface="Times New Roman" panose="02020603050405020304" pitchFamily="18" charset="0"/>
              </a:rPr>
              <a:t>unui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proiect</a:t>
            </a:r>
            <a:r>
              <a:rPr lang="en-US" sz="1800" dirty="0">
                <a:effectLst/>
                <a:latin typeface="Times New Roman" panose="02020603050405020304" pitchFamily="18" charset="0"/>
                <a:ea typeface="Times New Roman" panose="02020603050405020304" pitchFamily="18" charset="0"/>
              </a:rPr>
              <a:t> care se </a:t>
            </a:r>
            <a:r>
              <a:rPr lang="en-US" sz="1800" dirty="0" err="1">
                <a:effectLst/>
                <a:latin typeface="Times New Roman" panose="02020603050405020304" pitchFamily="18" charset="0"/>
                <a:ea typeface="Times New Roman" panose="02020603050405020304" pitchFamily="18" charset="0"/>
              </a:rPr>
              <a:t>afla</a:t>
            </a:r>
            <a:r>
              <a:rPr lang="en-US" sz="1800" dirty="0">
                <a:effectLst/>
                <a:latin typeface="Times New Roman" panose="02020603050405020304" pitchFamily="18" charset="0"/>
                <a:ea typeface="Times New Roman" panose="02020603050405020304" pitchFamily="18" charset="0"/>
              </a:rPr>
              <a:t> in </a:t>
            </a:r>
            <a:r>
              <a:rPr lang="en-US" sz="1800" dirty="0" err="1">
                <a:effectLst/>
                <a:latin typeface="Times New Roman" panose="02020603050405020304" pitchFamily="18" charset="0"/>
                <a:ea typeface="Times New Roman" panose="02020603050405020304" pitchFamily="18" charset="0"/>
              </a:rPr>
              <a:t>dezvoltare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sunt </a:t>
            </a:r>
            <a:r>
              <a:rPr lang="en-US" sz="1800" dirty="0" err="1">
                <a:effectLst/>
                <a:latin typeface="Times New Roman" panose="02020603050405020304" pitchFamily="18" charset="0"/>
                <a:ea typeface="Times New Roman" panose="02020603050405020304" pitchFamily="18" charset="0"/>
              </a:rPr>
              <a:t>folosite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pentru</a:t>
            </a:r>
            <a:r>
              <a:rPr lang="en-US" sz="1800" dirty="0">
                <a:effectLst/>
                <a:latin typeface="Times New Roman" panose="02020603050405020304" pitchFamily="18" charset="0"/>
                <a:ea typeface="Times New Roman" panose="02020603050405020304" pitchFamily="18" charset="0"/>
              </a:rPr>
              <a:t> a </a:t>
            </a:r>
            <a:r>
              <a:rPr lang="en-US" sz="1800" dirty="0" err="1">
                <a:effectLst/>
                <a:latin typeface="Times New Roman" panose="02020603050405020304" pitchFamily="18" charset="0"/>
                <a:ea typeface="Times New Roman" panose="02020603050405020304" pitchFamily="18" charset="0"/>
              </a:rPr>
              <a:t>evidentia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posibilele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evenimente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scenario in </a:t>
            </a:r>
            <a:r>
              <a:rPr lang="en-US" sz="1800" dirty="0" err="1">
                <a:effectLst/>
                <a:latin typeface="Times New Roman" panose="02020603050405020304" pitchFamily="18" charset="0"/>
                <a:ea typeface="Times New Roman" panose="02020603050405020304" pitchFamily="18" charset="0"/>
              </a:rPr>
              <a:t>utilizarea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aplicatiei</a:t>
            </a:r>
            <a:r>
              <a:rPr lang="en-US" sz="1800" dirty="0">
                <a:effectLst/>
                <a:latin typeface="Times New Roman" panose="02020603050405020304" pitchFamily="18" charset="0"/>
                <a:ea typeface="Times New Roman" panose="02020603050405020304" pitchFamily="18" charset="0"/>
              </a:rPr>
              <a:t>.</a:t>
            </a:r>
            <a:endParaRPr lang="en-US" dirty="0"/>
          </a:p>
        </p:txBody>
      </p:sp>
    </p:spTree>
    <p:extLst>
      <p:ext uri="{BB962C8B-B14F-4D97-AF65-F5344CB8AC3E}">
        <p14:creationId xmlns:p14="http://schemas.microsoft.com/office/powerpoint/2010/main" val="1011178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9A41E-CC49-4ED5-8777-EEF77ADB8EFB}"/>
              </a:ext>
            </a:extLst>
          </p:cNvPr>
          <p:cNvSpPr>
            <a:spLocks noGrp="1"/>
          </p:cNvSpPr>
          <p:nvPr>
            <p:ph type="title"/>
          </p:nvPr>
        </p:nvSpPr>
        <p:spPr>
          <a:xfrm>
            <a:off x="0" y="0"/>
            <a:ext cx="6882197" cy="983672"/>
          </a:xfrm>
        </p:spPr>
        <p:txBody>
          <a:bodyPr>
            <a:normAutofit/>
          </a:bodyPr>
          <a:lstStyle/>
          <a:p>
            <a:r>
              <a:rPr lang="en-US" dirty="0" err="1"/>
              <a:t>Diagrama</a:t>
            </a:r>
            <a:r>
              <a:rPr lang="en-US" dirty="0"/>
              <a:t> de </a:t>
            </a:r>
            <a:r>
              <a:rPr lang="en-US" dirty="0" err="1"/>
              <a:t>activitate</a:t>
            </a:r>
            <a:endParaRPr lang="en-US" dirty="0"/>
          </a:p>
        </p:txBody>
      </p:sp>
      <p:pic>
        <p:nvPicPr>
          <p:cNvPr id="5" name="Content Placeholder 4">
            <a:extLst>
              <a:ext uri="{FF2B5EF4-FFF2-40B4-BE49-F238E27FC236}">
                <a16:creationId xmlns:a16="http://schemas.microsoft.com/office/drawing/2014/main" id="{2924C117-6642-41B1-B0E0-41DCA68046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5840" y="640080"/>
            <a:ext cx="5800160" cy="4680065"/>
          </a:xfrm>
        </p:spPr>
      </p:pic>
      <p:sp>
        <p:nvSpPr>
          <p:cNvPr id="4" name="TextBox 3">
            <a:extLst>
              <a:ext uri="{FF2B5EF4-FFF2-40B4-BE49-F238E27FC236}">
                <a16:creationId xmlns:a16="http://schemas.microsoft.com/office/drawing/2014/main" id="{A10F0E1B-5AC7-4ABE-B9F9-8EA47409E16D}"/>
              </a:ext>
            </a:extLst>
          </p:cNvPr>
          <p:cNvSpPr txBox="1"/>
          <p:nvPr/>
        </p:nvSpPr>
        <p:spPr>
          <a:xfrm>
            <a:off x="6607877" y="640080"/>
            <a:ext cx="2419745" cy="5078313"/>
          </a:xfrm>
          <a:prstGeom prst="rect">
            <a:avLst/>
          </a:prstGeom>
          <a:noFill/>
        </p:spPr>
        <p:txBody>
          <a:bodyPr wrap="square" rtlCol="0">
            <a:spAutoFit/>
          </a:bodyPr>
          <a:lstStyle/>
          <a:p>
            <a:r>
              <a:rPr lang="en-US" sz="1800" dirty="0" err="1">
                <a:effectLst/>
                <a:latin typeface="Times New Roman" panose="02020603050405020304" pitchFamily="18" charset="0"/>
                <a:ea typeface="Times New Roman" panose="02020603050405020304" pitchFamily="18" charset="0"/>
              </a:rPr>
              <a:t>Diagramele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activitate</a:t>
            </a:r>
            <a:r>
              <a:rPr lang="en-US" sz="1800" dirty="0">
                <a:effectLst/>
                <a:latin typeface="Times New Roman" panose="02020603050405020304" pitchFamily="18" charset="0"/>
                <a:ea typeface="Times New Roman" panose="02020603050405020304" pitchFamily="18" charset="0"/>
              </a:rPr>
              <a:t> sunt </a:t>
            </a:r>
            <a:r>
              <a:rPr lang="en-US" sz="1800" dirty="0" err="1">
                <a:effectLst/>
                <a:latin typeface="Times New Roman" panose="02020603050405020304" pitchFamily="18" charset="0"/>
                <a:ea typeface="Times New Roman" panose="02020603050405020304" pitchFamily="18" charset="0"/>
              </a:rPr>
              <a:t>reprezentari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grafice</a:t>
            </a:r>
            <a:r>
              <a:rPr lang="en-US" sz="1800" dirty="0">
                <a:effectLst/>
                <a:latin typeface="Times New Roman" panose="02020603050405020304" pitchFamily="18" charset="0"/>
                <a:ea typeface="Times New Roman" panose="02020603050405020304" pitchFamily="18" charset="0"/>
              </a:rPr>
              <a:t> are workflow-</a:t>
            </a:r>
            <a:r>
              <a:rPr lang="en-US" sz="1800" dirty="0" err="1">
                <a:effectLst/>
                <a:latin typeface="Times New Roman" panose="02020603050405020304" pitchFamily="18" charset="0"/>
                <a:ea typeface="Times New Roman" panose="02020603050405020304" pitchFamily="18" charset="0"/>
              </a:rPr>
              <a:t>ului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acesta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cuprinzand</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activitati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actiuni</a:t>
            </a:r>
            <a:r>
              <a:rPr lang="en-US" sz="1800" dirty="0">
                <a:effectLst/>
                <a:latin typeface="Times New Roman" panose="02020603050405020304" pitchFamily="18" charset="0"/>
                <a:ea typeface="Times New Roman" panose="02020603050405020304" pitchFamily="18" charset="0"/>
              </a:rPr>
              <a:t> care pot </a:t>
            </a:r>
            <a:r>
              <a:rPr lang="en-US" sz="1800" dirty="0" err="1">
                <a:effectLst/>
                <a:latin typeface="Times New Roman" panose="02020603050405020304" pitchFamily="18" charset="0"/>
                <a:ea typeface="Times New Roman" panose="02020603050405020304" pitchFamily="18" charset="0"/>
              </a:rPr>
              <a:t>avea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iteratii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pot fi </a:t>
            </a:r>
            <a:r>
              <a:rPr lang="en-US" sz="1800" dirty="0" err="1">
                <a:effectLst/>
                <a:latin typeface="Times New Roman" panose="02020603050405020304" pitchFamily="18" charset="0"/>
                <a:ea typeface="Times New Roman" panose="02020603050405020304" pitchFamily="18" charset="0"/>
              </a:rPr>
              <a:t>concurente</a:t>
            </a:r>
            <a:r>
              <a:rPr lang="en-US" sz="1800" dirty="0">
                <a:effectLst/>
                <a:latin typeface="Times New Roman" panose="02020603050405020304" pitchFamily="18" charset="0"/>
                <a:ea typeface="Times New Roman" panose="02020603050405020304" pitchFamily="18" charset="0"/>
              </a:rPr>
              <a:t>. In UML, </a:t>
            </a:r>
            <a:r>
              <a:rPr lang="en-US" sz="1800" dirty="0" err="1">
                <a:effectLst/>
                <a:latin typeface="Times New Roman" panose="02020603050405020304" pitchFamily="18" charset="0"/>
                <a:ea typeface="Times New Roman" panose="02020603050405020304" pitchFamily="18" charset="0"/>
              </a:rPr>
              <a:t>diagramele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activitate</a:t>
            </a:r>
            <a:r>
              <a:rPr lang="en-US" sz="1800" dirty="0">
                <a:effectLst/>
                <a:latin typeface="Times New Roman" panose="02020603050405020304" pitchFamily="18" charset="0"/>
                <a:ea typeface="Times New Roman" panose="02020603050405020304" pitchFamily="18" charset="0"/>
              </a:rPr>
              <a:t> au </a:t>
            </a:r>
            <a:r>
              <a:rPr lang="en-US" sz="1800" dirty="0" err="1">
                <a:effectLst/>
                <a:latin typeface="Times New Roman" panose="02020603050405020304" pitchFamily="18" charset="0"/>
                <a:ea typeface="Times New Roman" panose="02020603050405020304" pitchFamily="18" charset="0"/>
              </a:rPr>
              <a:t>scopul</a:t>
            </a:r>
            <a:r>
              <a:rPr lang="en-US" sz="1800" dirty="0">
                <a:effectLst/>
                <a:latin typeface="Times New Roman" panose="02020603050405020304" pitchFamily="18" charset="0"/>
                <a:ea typeface="Times New Roman" panose="02020603050405020304" pitchFamily="18" charset="0"/>
              </a:rPr>
              <a:t> de a </a:t>
            </a:r>
            <a:r>
              <a:rPr lang="en-US" sz="1800" dirty="0" err="1">
                <a:effectLst/>
                <a:latin typeface="Times New Roman" panose="02020603050405020304" pitchFamily="18" charset="0"/>
                <a:ea typeface="Times New Roman" panose="02020603050405020304" pitchFamily="18" charset="0"/>
              </a:rPr>
              <a:t>modela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procesele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computationale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organizationale</a:t>
            </a:r>
            <a:r>
              <a:rPr lang="en-US" sz="1800" dirty="0">
                <a:effectLst/>
                <a:latin typeface="Times New Roman" panose="02020603050405020304" pitchFamily="18" charset="0"/>
                <a:ea typeface="Times New Roman" panose="02020603050405020304" pitchFamily="18" charset="0"/>
              </a:rPr>
              <a:t>, cat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cum </a:t>
            </a:r>
            <a:r>
              <a:rPr lang="en-US" sz="1800" dirty="0" err="1">
                <a:effectLst/>
                <a:latin typeface="Times New Roman" panose="02020603050405020304" pitchFamily="18" charset="0"/>
                <a:ea typeface="Times New Roman" panose="02020603050405020304" pitchFamily="18" charset="0"/>
              </a:rPr>
              <a:t>decurge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intersectarea</a:t>
            </a:r>
            <a:r>
              <a:rPr lang="en-US" sz="1800" dirty="0">
                <a:effectLst/>
                <a:latin typeface="Times New Roman" panose="02020603050405020304" pitchFamily="18" charset="0"/>
                <a:ea typeface="Times New Roman" panose="02020603050405020304" pitchFamily="18" charset="0"/>
              </a:rPr>
              <a:t> cu </a:t>
            </a:r>
            <a:r>
              <a:rPr lang="en-US" sz="1800" dirty="0" err="1">
                <a:effectLst/>
                <a:latin typeface="Times New Roman" panose="02020603050405020304" pitchFamily="18" charset="0"/>
                <a:ea typeface="Times New Roman" panose="02020603050405020304" pitchFamily="18" charset="0"/>
              </a:rPr>
              <a:t>alte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activitati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similare</a:t>
            </a:r>
            <a:r>
              <a:rPr lang="en-US" sz="1800" dirty="0">
                <a:effectLst/>
                <a:latin typeface="Times New Roman" panose="02020603050405020304" pitchFamily="18" charset="0"/>
                <a:ea typeface="Times New Roman" panose="02020603050405020304" pitchFamily="18" charset="0"/>
              </a:rPr>
              <a:t> care pot fi din </a:t>
            </a:r>
            <a:r>
              <a:rPr lang="en-US" sz="1800" dirty="0" err="1">
                <a:effectLst/>
                <a:latin typeface="Times New Roman" panose="02020603050405020304" pitchFamily="18" charset="0"/>
                <a:ea typeface="Times New Roman" panose="02020603050405020304" pitchFamily="18" charset="0"/>
              </a:rPr>
              <a:t>unul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mai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multe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etaje</a:t>
            </a:r>
            <a:r>
              <a:rPr lang="en-US" sz="1800" dirty="0">
                <a:effectLst/>
                <a:latin typeface="Times New Roman" panose="02020603050405020304" pitchFamily="18" charset="0"/>
                <a:ea typeface="Times New Roman" panose="02020603050405020304" pitchFamily="18" charset="0"/>
              </a:rPr>
              <a:t> de date.</a:t>
            </a:r>
          </a:p>
          <a:p>
            <a:endParaRPr lang="en-US" dirty="0"/>
          </a:p>
        </p:txBody>
      </p:sp>
    </p:spTree>
    <p:extLst>
      <p:ext uri="{BB962C8B-B14F-4D97-AF65-F5344CB8AC3E}">
        <p14:creationId xmlns:p14="http://schemas.microsoft.com/office/powerpoint/2010/main" val="323536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01FF2-542A-4F75-9611-43235C8BA541}"/>
              </a:ext>
            </a:extLst>
          </p:cNvPr>
          <p:cNvSpPr>
            <a:spLocks noGrp="1"/>
          </p:cNvSpPr>
          <p:nvPr>
            <p:ph type="title"/>
          </p:nvPr>
        </p:nvSpPr>
        <p:spPr>
          <a:xfrm>
            <a:off x="0" y="0"/>
            <a:ext cx="6482137" cy="965534"/>
          </a:xfrm>
        </p:spPr>
        <p:txBody>
          <a:bodyPr>
            <a:normAutofit/>
          </a:bodyPr>
          <a:lstStyle/>
          <a:p>
            <a:r>
              <a:rPr lang="en-US" dirty="0" err="1"/>
              <a:t>Diagrama</a:t>
            </a:r>
            <a:r>
              <a:rPr lang="en-US" dirty="0"/>
              <a:t> de </a:t>
            </a:r>
            <a:r>
              <a:rPr lang="en-US" dirty="0" err="1"/>
              <a:t>Tranzitie</a:t>
            </a:r>
            <a:r>
              <a:rPr lang="en-US" dirty="0"/>
              <a:t> </a:t>
            </a:r>
            <a:r>
              <a:rPr lang="en-US" dirty="0" err="1"/>
              <a:t>Stari</a:t>
            </a:r>
            <a:endParaRPr lang="en-US" dirty="0"/>
          </a:p>
        </p:txBody>
      </p:sp>
      <p:pic>
        <p:nvPicPr>
          <p:cNvPr id="5" name="Content Placeholder 4">
            <a:extLst>
              <a:ext uri="{FF2B5EF4-FFF2-40B4-BE49-F238E27FC236}">
                <a16:creationId xmlns:a16="http://schemas.microsoft.com/office/drawing/2014/main" id="{3D7FF123-3E2A-4AEE-A954-4A8A44FACF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49" y="806334"/>
            <a:ext cx="6119896" cy="4131024"/>
          </a:xfrm>
        </p:spPr>
      </p:pic>
      <p:sp>
        <p:nvSpPr>
          <p:cNvPr id="3" name="TextBox 2">
            <a:extLst>
              <a:ext uri="{FF2B5EF4-FFF2-40B4-BE49-F238E27FC236}">
                <a16:creationId xmlns:a16="http://schemas.microsoft.com/office/drawing/2014/main" id="{5BA73740-E4AA-42A2-B5CE-1502DB383688}"/>
              </a:ext>
            </a:extLst>
          </p:cNvPr>
          <p:cNvSpPr txBox="1"/>
          <p:nvPr/>
        </p:nvSpPr>
        <p:spPr>
          <a:xfrm>
            <a:off x="6882939" y="806334"/>
            <a:ext cx="2394066" cy="4247317"/>
          </a:xfrm>
          <a:prstGeom prst="rect">
            <a:avLst/>
          </a:prstGeom>
          <a:noFill/>
        </p:spPr>
        <p:txBody>
          <a:bodyPr wrap="square" rtlCol="0">
            <a:spAutoFit/>
          </a:bodyPr>
          <a:lstStyle/>
          <a:p>
            <a:pPr marL="0" marR="0">
              <a:spcBef>
                <a:spcPts val="0"/>
              </a:spcBef>
              <a:spcAft>
                <a:spcPts val="0"/>
              </a:spcAft>
            </a:pPr>
            <a:r>
              <a:rPr lang="en-US" sz="1800" dirty="0" err="1">
                <a:effectLst/>
                <a:latin typeface="Times New Roman" panose="02020603050405020304" pitchFamily="18" charset="0"/>
                <a:ea typeface="Times New Roman" panose="02020603050405020304" pitchFamily="18" charset="0"/>
              </a:rPr>
              <a:t>Diagramele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stari</a:t>
            </a:r>
            <a:r>
              <a:rPr lang="en-US" sz="1800" dirty="0">
                <a:effectLst/>
                <a:latin typeface="Times New Roman" panose="02020603050405020304" pitchFamily="18" charset="0"/>
                <a:ea typeface="Times New Roman" panose="02020603050405020304" pitchFamily="18" charset="0"/>
              </a:rPr>
              <a:t> sunt </a:t>
            </a:r>
            <a:r>
              <a:rPr lang="en-US" sz="1800" dirty="0" err="1">
                <a:effectLst/>
                <a:latin typeface="Times New Roman" panose="02020603050405020304" pitchFamily="18" charset="0"/>
                <a:ea typeface="Times New Roman" panose="02020603050405020304" pitchFamily="18" charset="0"/>
              </a:rPr>
              <a:t>folosite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pentru</a:t>
            </a:r>
            <a:r>
              <a:rPr lang="en-US" sz="1800" dirty="0">
                <a:effectLst/>
                <a:latin typeface="Times New Roman" panose="02020603050405020304" pitchFamily="18" charset="0"/>
                <a:ea typeface="Times New Roman" panose="02020603050405020304" pitchFamily="18" charset="0"/>
              </a:rPr>
              <a:t> a </a:t>
            </a:r>
            <a:r>
              <a:rPr lang="en-US" sz="1800" dirty="0" err="1">
                <a:effectLst/>
                <a:latin typeface="Times New Roman" panose="02020603050405020304" pitchFamily="18" charset="0"/>
                <a:ea typeface="Times New Roman" panose="02020603050405020304" pitchFamily="18" charset="0"/>
              </a:rPr>
              <a:t>oferi</a:t>
            </a:r>
            <a:r>
              <a:rPr lang="en-US" sz="1800" dirty="0">
                <a:effectLst/>
                <a:latin typeface="Times New Roman" panose="02020603050405020304" pitchFamily="18" charset="0"/>
                <a:ea typeface="Times New Roman" panose="02020603050405020304" pitchFamily="18" charset="0"/>
              </a:rPr>
              <a:t> o </a:t>
            </a:r>
            <a:r>
              <a:rPr lang="en-US" sz="1800" dirty="0" err="1">
                <a:effectLst/>
                <a:latin typeface="Times New Roman" panose="02020603050405020304" pitchFamily="18" charset="0"/>
                <a:ea typeface="Times New Roman" panose="02020603050405020304" pitchFamily="18" charset="0"/>
              </a:rPr>
              <a:t>descriere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abstatracta</a:t>
            </a:r>
            <a:r>
              <a:rPr lang="en-US" sz="1800" dirty="0">
                <a:effectLst/>
                <a:latin typeface="Times New Roman" panose="02020603050405020304" pitchFamily="18" charset="0"/>
                <a:ea typeface="Times New Roman" panose="02020603050405020304" pitchFamily="18" charset="0"/>
              </a:rPr>
              <a:t> a</a:t>
            </a:r>
          </a:p>
          <a:p>
            <a:pPr marL="0" marR="0">
              <a:spcBef>
                <a:spcPts val="0"/>
              </a:spcBef>
              <a:spcAft>
                <a:spcPts val="0"/>
              </a:spcAft>
            </a:pPr>
            <a:r>
              <a:rPr lang="en-US" sz="1800" dirty="0" err="1">
                <a:effectLst/>
                <a:latin typeface="Times New Roman" panose="02020603050405020304" pitchFamily="18" charset="0"/>
                <a:ea typeface="Times New Roman" panose="02020603050405020304" pitchFamily="18" charset="0"/>
              </a:rPr>
              <a:t>comportamentului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unui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sistem</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ca </a:t>
            </a:r>
            <a:r>
              <a:rPr lang="en-US" sz="1800" dirty="0" err="1">
                <a:effectLst/>
                <a:latin typeface="Times New Roman" panose="02020603050405020304" pitchFamily="18" charset="0"/>
                <a:ea typeface="Times New Roman" panose="02020603050405020304" pitchFamily="18" charset="0"/>
              </a:rPr>
              <a:t>acesta</a:t>
            </a:r>
            <a:r>
              <a:rPr lang="en-US" sz="1800" dirty="0">
                <a:effectLst/>
                <a:latin typeface="Times New Roman" panose="02020603050405020304" pitchFamily="18" charset="0"/>
                <a:ea typeface="Times New Roman" panose="02020603050405020304" pitchFamily="18" charset="0"/>
              </a:rPr>
              <a:t> face </a:t>
            </a:r>
            <a:r>
              <a:rPr lang="en-US" sz="1800" dirty="0" err="1">
                <a:effectLst/>
                <a:latin typeface="Times New Roman" panose="02020603050405020304" pitchFamily="18" charset="0"/>
                <a:ea typeface="Times New Roman" panose="02020603050405020304" pitchFamily="18" charset="0"/>
              </a:rPr>
              <a:t>parte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dintr</a:t>
            </a:r>
            <a:r>
              <a:rPr lang="en-US" sz="1800" dirty="0">
                <a:effectLst/>
                <a:latin typeface="Times New Roman" panose="02020603050405020304" pitchFamily="18" charset="0"/>
                <a:ea typeface="Times New Roman" panose="02020603050405020304" pitchFamily="18" charset="0"/>
              </a:rPr>
              <a:t>-un </a:t>
            </a:r>
            <a:r>
              <a:rPr lang="en-US" sz="1800" dirty="0" err="1">
                <a:effectLst/>
                <a:latin typeface="Times New Roman" panose="02020603050405020304" pitchFamily="18" charset="0"/>
                <a:ea typeface="Times New Roman" panose="02020603050405020304" pitchFamily="18" charset="0"/>
              </a:rPr>
              <a:t>sistem</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instante</a:t>
            </a:r>
            <a:r>
              <a:rPr lang="en-US" sz="1800" dirty="0">
                <a:effectLst/>
                <a:latin typeface="Times New Roman" panose="02020603050405020304" pitchFamily="18" charset="0"/>
                <a:ea typeface="Times New Roman" panose="02020603050405020304" pitchFamily="18" charset="0"/>
              </a:rPr>
              <a:t> finite in </a:t>
            </a:r>
            <a:r>
              <a:rPr lang="en-US" sz="1800" dirty="0" err="1">
                <a:effectLst/>
                <a:latin typeface="Times New Roman" panose="02020603050405020304" pitchFamily="18" charset="0"/>
                <a:ea typeface="Times New Roman" panose="02020603050405020304" pitchFamily="18" charset="0"/>
              </a:rPr>
              <a:t>functie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timp.</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Aceasta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este</a:t>
            </a:r>
            <a:r>
              <a:rPr lang="en-US" sz="1800" dirty="0">
                <a:effectLst/>
                <a:latin typeface="Times New Roman" panose="02020603050405020304" pitchFamily="18" charset="0"/>
                <a:ea typeface="Times New Roman" panose="02020603050405020304" pitchFamily="18" charset="0"/>
              </a:rPr>
              <a:t> o </a:t>
            </a:r>
            <a:r>
              <a:rPr lang="en-US" sz="1800" dirty="0" err="1">
                <a:effectLst/>
                <a:latin typeface="Times New Roman" panose="02020603050405020304" pitchFamily="18" charset="0"/>
                <a:ea typeface="Times New Roman" panose="02020603050405020304" pitchFamily="18" charset="0"/>
              </a:rPr>
              <a:t>diagrama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comportamentala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reprezinta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comportamentul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aplicatiei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prin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stari</a:t>
            </a:r>
            <a:r>
              <a:rPr lang="en-US" sz="1800" dirty="0">
                <a:effectLst/>
                <a:latin typeface="Times New Roman" panose="02020603050405020304" pitchFamily="18" charset="0"/>
                <a:ea typeface="Times New Roman" panose="02020603050405020304" pitchFamily="18" charset="0"/>
              </a:rPr>
              <a:t> finite de </a:t>
            </a:r>
            <a:r>
              <a:rPr lang="en-US" sz="1800" dirty="0" err="1">
                <a:effectLst/>
                <a:latin typeface="Times New Roman" panose="02020603050405020304" pitchFamily="18" charset="0"/>
                <a:ea typeface="Times New Roman" panose="02020603050405020304" pitchFamily="18" charset="0"/>
              </a:rPr>
              <a:t>tranzitie</a:t>
            </a:r>
            <a:r>
              <a:rPr lang="en-US" sz="18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1607399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34EE2-EFEA-4926-A678-48DC0C71D17F}"/>
              </a:ext>
            </a:extLst>
          </p:cNvPr>
          <p:cNvSpPr>
            <a:spLocks noGrp="1"/>
          </p:cNvSpPr>
          <p:nvPr>
            <p:ph type="title"/>
          </p:nvPr>
        </p:nvSpPr>
        <p:spPr>
          <a:xfrm>
            <a:off x="0" y="0"/>
            <a:ext cx="8596668" cy="1320800"/>
          </a:xfrm>
        </p:spPr>
        <p:txBody>
          <a:bodyPr/>
          <a:lstStyle/>
          <a:p>
            <a:r>
              <a:rPr lang="en-US" dirty="0" err="1"/>
              <a:t>Diagrama</a:t>
            </a:r>
            <a:r>
              <a:rPr lang="en-US" dirty="0"/>
              <a:t> de </a:t>
            </a:r>
            <a:r>
              <a:rPr lang="en-US" dirty="0" err="1"/>
              <a:t>comunicare</a:t>
            </a:r>
            <a:endParaRPr lang="en-US" dirty="0"/>
          </a:p>
        </p:txBody>
      </p:sp>
      <p:pic>
        <p:nvPicPr>
          <p:cNvPr id="5" name="Content Placeholder 4">
            <a:extLst>
              <a:ext uri="{FF2B5EF4-FFF2-40B4-BE49-F238E27FC236}">
                <a16:creationId xmlns:a16="http://schemas.microsoft.com/office/drawing/2014/main" id="{A2C113D3-CA21-487D-966B-BF0F3D1766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152" y="660400"/>
            <a:ext cx="5541819" cy="5401982"/>
          </a:xfrm>
        </p:spPr>
      </p:pic>
      <p:sp>
        <p:nvSpPr>
          <p:cNvPr id="3" name="TextBox 2">
            <a:extLst>
              <a:ext uri="{FF2B5EF4-FFF2-40B4-BE49-F238E27FC236}">
                <a16:creationId xmlns:a16="http://schemas.microsoft.com/office/drawing/2014/main" id="{19B9D0FC-00EC-413D-85BE-6F8E364BC8F6}"/>
              </a:ext>
            </a:extLst>
          </p:cNvPr>
          <p:cNvSpPr txBox="1"/>
          <p:nvPr/>
        </p:nvSpPr>
        <p:spPr>
          <a:xfrm>
            <a:off x="6616931" y="1213658"/>
            <a:ext cx="2618509" cy="3693319"/>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rPr>
              <a:t>O </a:t>
            </a:r>
            <a:r>
              <a:rPr lang="en-US" sz="1800" dirty="0" err="1">
                <a:effectLst/>
                <a:latin typeface="Times New Roman" panose="02020603050405020304" pitchFamily="18" charset="0"/>
                <a:ea typeface="Times New Roman" panose="02020603050405020304" pitchFamily="18" charset="0"/>
              </a:rPr>
              <a:t>diagrama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comunicare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modeleaza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interactiunile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dintre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obiecte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sau</a:t>
            </a:r>
            <a:r>
              <a:rPr lang="en-US" sz="1800" dirty="0">
                <a:effectLst/>
                <a:latin typeface="Times New Roman" panose="02020603050405020304" pitchFamily="18" charset="0"/>
                <a:ea typeface="Times New Roman" panose="02020603050405020304" pitchFamily="18" charset="0"/>
              </a:rPr>
              <a:t> parti sub forma de </a:t>
            </a:r>
            <a:r>
              <a:rPr lang="en-US" sz="1800" dirty="0" err="1">
                <a:effectLst/>
                <a:latin typeface="Times New Roman" panose="02020603050405020304" pitchFamily="18" charset="0"/>
                <a:ea typeface="Times New Roman" panose="02020603050405020304" pitchFamily="18" charset="0"/>
              </a:rPr>
              <a:t>mesaje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secventiale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Diagramele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comunicare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reprezinta</a:t>
            </a:r>
            <a:r>
              <a:rPr lang="en-US" sz="1800" dirty="0">
                <a:effectLst/>
                <a:latin typeface="Times New Roman" panose="02020603050405020304" pitchFamily="18" charset="0"/>
                <a:ea typeface="Times New Roman" panose="02020603050405020304" pitchFamily="18" charset="0"/>
              </a:rPr>
              <a:t> o </a:t>
            </a:r>
            <a:r>
              <a:rPr lang="en-US" sz="1800" dirty="0" err="1">
                <a:effectLst/>
                <a:latin typeface="Times New Roman" panose="02020603050405020304" pitchFamily="18" charset="0"/>
                <a:ea typeface="Times New Roman" panose="02020603050405020304" pitchFamily="18" charset="0"/>
              </a:rPr>
              <a:t>combinatie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informatii</a:t>
            </a:r>
            <a:r>
              <a:rPr lang="en-US" sz="1800" dirty="0">
                <a:effectLst/>
                <a:latin typeface="Times New Roman" panose="02020603050405020304" pitchFamily="18" charset="0"/>
                <a:ea typeface="Times New Roman" panose="02020603050405020304" pitchFamily="18" charset="0"/>
              </a:rPr>
              <a:t> de la </a:t>
            </a:r>
            <a:r>
              <a:rPr lang="en-US" sz="1800" dirty="0" err="1">
                <a:effectLst/>
                <a:latin typeface="Times New Roman" panose="02020603050405020304" pitchFamily="18" charset="0"/>
                <a:ea typeface="Times New Roman" panose="02020603050405020304" pitchFamily="18" charset="0"/>
              </a:rPr>
              <a:t>clase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secvente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diagrame</a:t>
            </a:r>
            <a:r>
              <a:rPr lang="en-US" sz="1800" dirty="0">
                <a:effectLst/>
                <a:latin typeface="Times New Roman" panose="02020603050405020304" pitchFamily="18" charset="0"/>
                <a:ea typeface="Times New Roman" panose="02020603050405020304" pitchFamily="18" charset="0"/>
              </a:rPr>
              <a:t> use case, care </a:t>
            </a:r>
            <a:r>
              <a:rPr lang="en-US" sz="1800" dirty="0" err="1">
                <a:effectLst/>
                <a:latin typeface="Times New Roman" panose="02020603050405020304" pitchFamily="18" charset="0"/>
                <a:ea typeface="Times New Roman" panose="02020603050405020304" pitchFamily="18" charset="0"/>
              </a:rPr>
              <a:t>descriu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atat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structura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statica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comportamentul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dinamic</a:t>
            </a:r>
            <a:r>
              <a:rPr lang="en-US" sz="1800" dirty="0">
                <a:effectLst/>
                <a:latin typeface="Times New Roman" panose="02020603050405020304" pitchFamily="18" charset="0"/>
                <a:ea typeface="Times New Roman" panose="02020603050405020304" pitchFamily="18" charset="0"/>
              </a:rPr>
              <a:t> al </a:t>
            </a:r>
            <a:r>
              <a:rPr lang="en-US" sz="1800" dirty="0" err="1">
                <a:effectLst/>
                <a:latin typeface="Times New Roman" panose="02020603050405020304" pitchFamily="18" charset="0"/>
                <a:ea typeface="Times New Roman" panose="02020603050405020304" pitchFamily="18" charset="0"/>
              </a:rPr>
              <a:t>uni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sistem</a:t>
            </a:r>
            <a:endParaRPr lang="en-US" dirty="0"/>
          </a:p>
        </p:txBody>
      </p:sp>
    </p:spTree>
    <p:extLst>
      <p:ext uri="{BB962C8B-B14F-4D97-AF65-F5344CB8AC3E}">
        <p14:creationId xmlns:p14="http://schemas.microsoft.com/office/powerpoint/2010/main" val="160676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09BA3-F186-4B03-8979-21A2B2C7D546}"/>
              </a:ext>
            </a:extLst>
          </p:cNvPr>
          <p:cNvSpPr>
            <a:spLocks noGrp="1"/>
          </p:cNvSpPr>
          <p:nvPr>
            <p:ph type="title"/>
          </p:nvPr>
        </p:nvSpPr>
        <p:spPr>
          <a:xfrm>
            <a:off x="0" y="16625"/>
            <a:ext cx="6931024" cy="850668"/>
          </a:xfrm>
        </p:spPr>
        <p:txBody>
          <a:bodyPr>
            <a:normAutofit/>
          </a:bodyPr>
          <a:lstStyle/>
          <a:p>
            <a:r>
              <a:rPr lang="en-US" dirty="0" err="1"/>
              <a:t>Diagrama</a:t>
            </a:r>
            <a:r>
              <a:rPr lang="en-US" dirty="0"/>
              <a:t> de </a:t>
            </a:r>
            <a:r>
              <a:rPr lang="en-US" dirty="0" err="1"/>
              <a:t>pachete</a:t>
            </a:r>
            <a:endParaRPr lang="en-US" dirty="0"/>
          </a:p>
        </p:txBody>
      </p:sp>
      <p:pic>
        <p:nvPicPr>
          <p:cNvPr id="5" name="Content Placeholder 4">
            <a:extLst>
              <a:ext uri="{FF2B5EF4-FFF2-40B4-BE49-F238E27FC236}">
                <a16:creationId xmlns:a16="http://schemas.microsoft.com/office/drawing/2014/main" id="{B1C1B97C-E67C-4F12-B1DB-B81B3C3E91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5041" y="850668"/>
            <a:ext cx="3698606" cy="3614738"/>
          </a:xfrm>
        </p:spPr>
      </p:pic>
      <p:sp>
        <p:nvSpPr>
          <p:cNvPr id="3" name="TextBox 2">
            <a:extLst>
              <a:ext uri="{FF2B5EF4-FFF2-40B4-BE49-F238E27FC236}">
                <a16:creationId xmlns:a16="http://schemas.microsoft.com/office/drawing/2014/main" id="{1784C2D4-0B08-4818-B7A8-8CB1A0D420D2}"/>
              </a:ext>
            </a:extLst>
          </p:cNvPr>
          <p:cNvSpPr txBox="1"/>
          <p:nvPr/>
        </p:nvSpPr>
        <p:spPr>
          <a:xfrm>
            <a:off x="6018415" y="1338349"/>
            <a:ext cx="2718261" cy="4247317"/>
          </a:xfrm>
          <a:prstGeom prst="rect">
            <a:avLst/>
          </a:prstGeom>
          <a:noFill/>
        </p:spPr>
        <p:txBody>
          <a:bodyPr wrap="square" rtlCol="0">
            <a:spAutoFit/>
          </a:bodyPr>
          <a:lstStyle/>
          <a:p>
            <a:r>
              <a:rPr lang="en-US" sz="1800" dirty="0" err="1">
                <a:effectLst/>
                <a:latin typeface="Times New Roman" panose="02020603050405020304" pitchFamily="18" charset="0"/>
                <a:ea typeface="Times New Roman" panose="02020603050405020304" pitchFamily="18" charset="0"/>
              </a:rPr>
              <a:t>Diagramele</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pachete</a:t>
            </a:r>
            <a:r>
              <a:rPr lang="en-US" sz="1800" dirty="0">
                <a:effectLst/>
                <a:latin typeface="Times New Roman" panose="02020603050405020304" pitchFamily="18" charset="0"/>
                <a:ea typeface="Times New Roman" panose="02020603050405020304" pitchFamily="18" charset="0"/>
              </a:rPr>
              <a:t> sunt </a:t>
            </a:r>
            <a:r>
              <a:rPr lang="en-US" sz="1800" dirty="0" err="1">
                <a:effectLst/>
                <a:latin typeface="Times New Roman" panose="02020603050405020304" pitchFamily="18" charset="0"/>
                <a:ea typeface="Times New Roman" panose="02020603050405020304" pitchFamily="18" charset="0"/>
              </a:rPr>
              <a:t>diagrame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structurale</a:t>
            </a:r>
            <a:r>
              <a:rPr lang="en-US" sz="1800" dirty="0">
                <a:effectLst/>
                <a:latin typeface="Times New Roman" panose="02020603050405020304" pitchFamily="18" charset="0"/>
                <a:ea typeface="Times New Roman" panose="02020603050405020304" pitchFamily="18" charset="0"/>
              </a:rPr>
              <a:t> care </a:t>
            </a:r>
            <a:r>
              <a:rPr lang="en-US" sz="1800" dirty="0" err="1">
                <a:effectLst/>
                <a:latin typeface="Times New Roman" panose="02020603050405020304" pitchFamily="18" charset="0"/>
                <a:ea typeface="Times New Roman" panose="02020603050405020304" pitchFamily="18" charset="0"/>
              </a:rPr>
              <a:t>arata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aranjamentul</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organizarea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modelului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elementelor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mari</a:t>
            </a:r>
            <a:r>
              <a:rPr lang="en-US" sz="1800" dirty="0">
                <a:effectLst/>
                <a:latin typeface="Times New Roman" panose="02020603050405020304" pitchFamily="18" charset="0"/>
                <a:ea typeface="Times New Roman" panose="02020603050405020304" pitchFamily="18" charset="0"/>
              </a:rPr>
              <a:t> ale </a:t>
            </a:r>
            <a:r>
              <a:rPr lang="en-US" sz="1800" dirty="0" err="1">
                <a:effectLst/>
                <a:latin typeface="Times New Roman" panose="02020603050405020304" pitchFamily="18" charset="0"/>
                <a:ea typeface="Times New Roman" panose="02020603050405020304" pitchFamily="18" charset="0"/>
              </a:rPr>
              <a:t>unui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proiect</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adica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pachetele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clasele</a:t>
            </a:r>
            <a:r>
              <a:rPr lang="en-US" sz="1800" dirty="0">
                <a:effectLst/>
                <a:latin typeface="Times New Roman" panose="02020603050405020304" pitchFamily="18" charset="0"/>
                <a:ea typeface="Times New Roman" panose="02020603050405020304" pitchFamily="18" charset="0"/>
              </a:rPr>
              <a:t> din </a:t>
            </a:r>
            <a:r>
              <a:rPr lang="en-US" sz="1800" dirty="0" err="1">
                <a:effectLst/>
                <a:latin typeface="Times New Roman" panose="02020603050405020304" pitchFamily="18" charset="0"/>
                <a:ea typeface="Times New Roman" panose="02020603050405020304" pitchFamily="18" charset="0"/>
              </a:rPr>
              <a:t>afara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acestora</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asemenea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acestea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arata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structura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dependentele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dintre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subsisteme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sau</a:t>
            </a:r>
            <a:r>
              <a:rPr lang="en-US" sz="1800" dirty="0">
                <a:effectLst/>
                <a:latin typeface="Times New Roman" panose="02020603050405020304" pitchFamily="18" charset="0"/>
                <a:ea typeface="Times New Roman" panose="02020603050405020304" pitchFamily="18" charset="0"/>
              </a:rPr>
              <a:t> module, </a:t>
            </a:r>
            <a:r>
              <a:rPr lang="en-US" sz="1800" dirty="0" err="1">
                <a:effectLst/>
                <a:latin typeface="Times New Roman" panose="02020603050405020304" pitchFamily="18" charset="0"/>
                <a:ea typeface="Times New Roman" panose="02020603050405020304" pitchFamily="18" charset="0"/>
              </a:rPr>
              <a:t>evidentiind</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diferite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viziunu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asuprea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sistemului</a:t>
            </a:r>
            <a:r>
              <a:rPr lang="en-US" sz="1800" dirty="0">
                <a:effectLst/>
                <a:latin typeface="Times New Roman" panose="02020603050405020304" pitchFamily="18" charset="0"/>
                <a:ea typeface="Times New Roman" panose="02020603050405020304" pitchFamily="18" charset="0"/>
              </a:rPr>
              <a:t>, de </a:t>
            </a:r>
            <a:r>
              <a:rPr lang="en-US" sz="1800" dirty="0" err="1">
                <a:effectLst/>
                <a:latin typeface="Times New Roman" panose="02020603050405020304" pitchFamily="18" charset="0"/>
                <a:ea typeface="Times New Roman" panose="02020603050405020304" pitchFamily="18" charset="0"/>
              </a:rPr>
              <a:t>exemplu</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stratificarea</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aplicatiei</a:t>
            </a:r>
            <a:r>
              <a:rPr lang="en-US" sz="1800" dirty="0">
                <a:effectLst/>
                <a:latin typeface="Times New Roman" panose="02020603050405020304" pitchFamily="18" charset="0"/>
                <a:ea typeface="Times New Roman" panose="02020603050405020304" pitchFamily="18" charset="0"/>
              </a:rPr>
              <a:t>.</a:t>
            </a:r>
          </a:p>
          <a:p>
            <a:endParaRPr lang="en-US" dirty="0"/>
          </a:p>
        </p:txBody>
      </p:sp>
    </p:spTree>
    <p:extLst>
      <p:ext uri="{BB962C8B-B14F-4D97-AF65-F5344CB8AC3E}">
        <p14:creationId xmlns:p14="http://schemas.microsoft.com/office/powerpoint/2010/main" val="83910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F29E9-CB09-486E-8F49-62512D73C19F}"/>
              </a:ext>
            </a:extLst>
          </p:cNvPr>
          <p:cNvSpPr>
            <a:spLocks noGrp="1"/>
          </p:cNvSpPr>
          <p:nvPr>
            <p:ph type="title"/>
          </p:nvPr>
        </p:nvSpPr>
        <p:spPr>
          <a:xfrm>
            <a:off x="0" y="0"/>
            <a:ext cx="8534400" cy="1507067"/>
          </a:xfrm>
        </p:spPr>
        <p:txBody>
          <a:bodyPr/>
          <a:lstStyle/>
          <a:p>
            <a:r>
              <a:rPr lang="en-US" dirty="0" err="1"/>
              <a:t>Diagrama</a:t>
            </a:r>
            <a:r>
              <a:rPr lang="en-US" dirty="0"/>
              <a:t> de </a:t>
            </a:r>
            <a:r>
              <a:rPr lang="en-US" dirty="0" err="1"/>
              <a:t>desfasurare</a:t>
            </a:r>
            <a:endParaRPr lang="en-US" dirty="0"/>
          </a:p>
        </p:txBody>
      </p:sp>
      <p:pic>
        <p:nvPicPr>
          <p:cNvPr id="5" name="Content Placeholder 4">
            <a:extLst>
              <a:ext uri="{FF2B5EF4-FFF2-40B4-BE49-F238E27FC236}">
                <a16:creationId xmlns:a16="http://schemas.microsoft.com/office/drawing/2014/main" id="{8396DBE8-1BDB-4E02-B01E-1910BD1FA0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7032" y="711970"/>
            <a:ext cx="5211055" cy="5245331"/>
          </a:xfrm>
        </p:spPr>
      </p:pic>
      <p:sp>
        <p:nvSpPr>
          <p:cNvPr id="6" name="TextBox 5">
            <a:extLst>
              <a:ext uri="{FF2B5EF4-FFF2-40B4-BE49-F238E27FC236}">
                <a16:creationId xmlns:a16="http://schemas.microsoft.com/office/drawing/2014/main" id="{AE263429-3EB9-4943-87C5-F7E6BF96F97A}"/>
              </a:ext>
            </a:extLst>
          </p:cNvPr>
          <p:cNvSpPr txBox="1"/>
          <p:nvPr/>
        </p:nvSpPr>
        <p:spPr>
          <a:xfrm>
            <a:off x="6500553" y="1745673"/>
            <a:ext cx="2768138" cy="3970318"/>
          </a:xfrm>
          <a:prstGeom prst="rect">
            <a:avLst/>
          </a:prstGeom>
          <a:noFill/>
        </p:spPr>
        <p:txBody>
          <a:bodyPr wrap="square" rtlCol="0">
            <a:spAutoFit/>
          </a:bodyPr>
          <a:lstStyle/>
          <a:p>
            <a:r>
              <a:rPr lang="en-US" dirty="0" err="1"/>
              <a:t>Diagrama</a:t>
            </a:r>
            <a:r>
              <a:rPr lang="en-US" dirty="0"/>
              <a:t> de </a:t>
            </a:r>
            <a:r>
              <a:rPr lang="en-US" dirty="0" err="1"/>
              <a:t>desfasurare</a:t>
            </a:r>
            <a:r>
              <a:rPr lang="en-US" dirty="0"/>
              <a:t> in UML </a:t>
            </a:r>
            <a:r>
              <a:rPr lang="en-US" dirty="0" err="1"/>
              <a:t>modeleaza</a:t>
            </a:r>
            <a:r>
              <a:rPr lang="en-US" dirty="0"/>
              <a:t> </a:t>
            </a:r>
            <a:r>
              <a:rPr lang="en-US" dirty="0" err="1"/>
              <a:t>desfasurarea</a:t>
            </a:r>
            <a:r>
              <a:rPr lang="en-US" dirty="0"/>
              <a:t> </a:t>
            </a:r>
            <a:r>
              <a:rPr lang="en-US" dirty="0" err="1"/>
              <a:t>fizica</a:t>
            </a:r>
            <a:r>
              <a:rPr lang="en-US" dirty="0"/>
              <a:t> a </a:t>
            </a:r>
            <a:r>
              <a:rPr lang="en-US" dirty="0" err="1"/>
              <a:t>artifactelor</a:t>
            </a:r>
            <a:r>
              <a:rPr lang="en-US" dirty="0"/>
              <a:t> pe </a:t>
            </a:r>
            <a:r>
              <a:rPr lang="en-US" dirty="0" err="1"/>
              <a:t>noduri</a:t>
            </a:r>
            <a:r>
              <a:rPr lang="en-US" dirty="0"/>
              <a:t>. </a:t>
            </a:r>
            <a:r>
              <a:rPr lang="en-US" dirty="0" err="1"/>
              <a:t>Pentru</a:t>
            </a:r>
            <a:r>
              <a:rPr lang="en-US" dirty="0"/>
              <a:t> a </a:t>
            </a:r>
            <a:r>
              <a:rPr lang="en-US" dirty="0" err="1"/>
              <a:t>descrie</a:t>
            </a:r>
            <a:r>
              <a:rPr lang="en-US" dirty="0"/>
              <a:t> un site web, o </a:t>
            </a:r>
            <a:r>
              <a:rPr lang="en-US" dirty="0" err="1"/>
              <a:t>diagrama</a:t>
            </a:r>
            <a:r>
              <a:rPr lang="en-US" dirty="0"/>
              <a:t> de </a:t>
            </a:r>
            <a:r>
              <a:rPr lang="en-US" dirty="0" err="1"/>
              <a:t>desfasurare</a:t>
            </a:r>
            <a:r>
              <a:rPr lang="en-US" dirty="0"/>
              <a:t> </a:t>
            </a:r>
            <a:r>
              <a:rPr lang="en-US" dirty="0" err="1"/>
              <a:t>ar</a:t>
            </a:r>
            <a:r>
              <a:rPr lang="en-US" dirty="0"/>
              <a:t> </a:t>
            </a:r>
            <a:r>
              <a:rPr lang="en-US" dirty="0" err="1"/>
              <a:t>arata</a:t>
            </a:r>
            <a:r>
              <a:rPr lang="en-US" dirty="0"/>
              <a:t> </a:t>
            </a:r>
            <a:r>
              <a:rPr lang="en-US" dirty="0" err="1"/>
              <a:t>ce</a:t>
            </a:r>
            <a:r>
              <a:rPr lang="en-US" dirty="0"/>
              <a:t> </a:t>
            </a:r>
            <a:r>
              <a:rPr lang="en-US" dirty="0" err="1"/>
              <a:t>componente</a:t>
            </a:r>
            <a:r>
              <a:rPr lang="en-US" dirty="0"/>
              <a:t> hardware(“</a:t>
            </a:r>
            <a:r>
              <a:rPr lang="en-US" dirty="0" err="1"/>
              <a:t>noduri</a:t>
            </a:r>
            <a:r>
              <a:rPr lang="en-US" dirty="0"/>
              <a:t>”) </a:t>
            </a:r>
            <a:r>
              <a:rPr lang="en-US" dirty="0" err="1"/>
              <a:t>exista</a:t>
            </a:r>
            <a:r>
              <a:rPr lang="en-US" dirty="0"/>
              <a:t>, </a:t>
            </a:r>
            <a:r>
              <a:rPr lang="en-US" dirty="0" err="1"/>
              <a:t>ce</a:t>
            </a:r>
            <a:r>
              <a:rPr lang="en-US" dirty="0"/>
              <a:t> </a:t>
            </a:r>
            <a:r>
              <a:rPr lang="en-US" dirty="0" err="1"/>
              <a:t>componente</a:t>
            </a:r>
            <a:r>
              <a:rPr lang="en-US" dirty="0"/>
              <a:t> software(“</a:t>
            </a:r>
            <a:r>
              <a:rPr lang="en-US" dirty="0" err="1"/>
              <a:t>artefacte</a:t>
            </a:r>
            <a:r>
              <a:rPr lang="en-US" dirty="0"/>
              <a:t>”) </a:t>
            </a:r>
            <a:r>
              <a:rPr lang="en-US" dirty="0" err="1"/>
              <a:t>functioneaza</a:t>
            </a:r>
            <a:r>
              <a:rPr lang="en-US" dirty="0"/>
              <a:t> pe </a:t>
            </a:r>
            <a:r>
              <a:rPr lang="en-US" dirty="0" err="1"/>
              <a:t>fiecare</a:t>
            </a:r>
            <a:r>
              <a:rPr lang="en-US" dirty="0"/>
              <a:t> nod, </a:t>
            </a:r>
            <a:r>
              <a:rPr lang="en-US" dirty="0" err="1"/>
              <a:t>si</a:t>
            </a:r>
            <a:r>
              <a:rPr lang="en-US" dirty="0"/>
              <a:t> cum sunt </a:t>
            </a:r>
            <a:r>
              <a:rPr lang="en-US" dirty="0" err="1"/>
              <a:t>conectate</a:t>
            </a:r>
            <a:r>
              <a:rPr lang="en-US" dirty="0"/>
              <a:t> </a:t>
            </a:r>
            <a:r>
              <a:rPr lang="en-US" dirty="0" err="1"/>
              <a:t>intre</a:t>
            </a:r>
            <a:r>
              <a:rPr lang="en-US" dirty="0"/>
              <a:t> </a:t>
            </a:r>
            <a:r>
              <a:rPr lang="en-US" dirty="0" err="1"/>
              <a:t>ele</a:t>
            </a:r>
            <a:r>
              <a:rPr lang="en-US" dirty="0"/>
              <a:t>.</a:t>
            </a:r>
          </a:p>
        </p:txBody>
      </p:sp>
    </p:spTree>
    <p:extLst>
      <p:ext uri="{BB962C8B-B14F-4D97-AF65-F5344CB8AC3E}">
        <p14:creationId xmlns:p14="http://schemas.microsoft.com/office/powerpoint/2010/main" val="1401284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9DA40-9C01-4AAF-BBC4-2D882FA93667}"/>
              </a:ext>
            </a:extLst>
          </p:cNvPr>
          <p:cNvSpPr>
            <a:spLocks noGrp="1"/>
          </p:cNvSpPr>
          <p:nvPr>
            <p:ph type="title"/>
          </p:nvPr>
        </p:nvSpPr>
        <p:spPr>
          <a:xfrm>
            <a:off x="0" y="0"/>
            <a:ext cx="8534400" cy="1507067"/>
          </a:xfrm>
        </p:spPr>
        <p:txBody>
          <a:bodyPr/>
          <a:lstStyle/>
          <a:p>
            <a:r>
              <a:rPr lang="en-US" dirty="0" err="1"/>
              <a:t>Diagrama</a:t>
            </a:r>
            <a:r>
              <a:rPr lang="en-US" dirty="0"/>
              <a:t> </a:t>
            </a:r>
            <a:r>
              <a:rPr lang="en-US" dirty="0" err="1"/>
              <a:t>bazei</a:t>
            </a:r>
            <a:r>
              <a:rPr lang="en-US" dirty="0"/>
              <a:t> de date</a:t>
            </a:r>
          </a:p>
        </p:txBody>
      </p:sp>
      <p:pic>
        <p:nvPicPr>
          <p:cNvPr id="5" name="Content Placeholder 4">
            <a:extLst>
              <a:ext uri="{FF2B5EF4-FFF2-40B4-BE49-F238E27FC236}">
                <a16:creationId xmlns:a16="http://schemas.microsoft.com/office/drawing/2014/main" id="{123E126C-6D51-4EBC-94C3-31A78A0C3A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2117" y="798023"/>
            <a:ext cx="5161280" cy="4274568"/>
          </a:xfrm>
        </p:spPr>
      </p:pic>
      <p:sp>
        <p:nvSpPr>
          <p:cNvPr id="6" name="TextBox 5">
            <a:extLst>
              <a:ext uri="{FF2B5EF4-FFF2-40B4-BE49-F238E27FC236}">
                <a16:creationId xmlns:a16="http://schemas.microsoft.com/office/drawing/2014/main" id="{6C6C6319-3768-48B6-AA06-64F59355E531}"/>
              </a:ext>
            </a:extLst>
          </p:cNvPr>
          <p:cNvSpPr txBox="1"/>
          <p:nvPr/>
        </p:nvSpPr>
        <p:spPr>
          <a:xfrm>
            <a:off x="6500553" y="1230284"/>
            <a:ext cx="2225964" cy="2585323"/>
          </a:xfrm>
          <a:prstGeom prst="rect">
            <a:avLst/>
          </a:prstGeom>
          <a:noFill/>
        </p:spPr>
        <p:txBody>
          <a:bodyPr wrap="square" rtlCol="0">
            <a:spAutoFit/>
          </a:bodyPr>
          <a:lstStyle/>
          <a:p>
            <a:r>
              <a:rPr lang="en-US" dirty="0" err="1"/>
              <a:t>Diagrama</a:t>
            </a:r>
            <a:r>
              <a:rPr lang="en-US" dirty="0"/>
              <a:t> </a:t>
            </a:r>
            <a:r>
              <a:rPr lang="en-US" dirty="0" err="1"/>
              <a:t>bazei</a:t>
            </a:r>
            <a:r>
              <a:rPr lang="en-US" dirty="0"/>
              <a:t> de date </a:t>
            </a:r>
            <a:r>
              <a:rPr lang="en-US" dirty="0" err="1"/>
              <a:t>reprezinta</a:t>
            </a:r>
            <a:r>
              <a:rPr lang="en-US" dirty="0"/>
              <a:t> </a:t>
            </a:r>
            <a:r>
              <a:rPr lang="en-US" dirty="0" err="1"/>
              <a:t>structura</a:t>
            </a:r>
            <a:r>
              <a:rPr lang="en-US" dirty="0"/>
              <a:t> </a:t>
            </a:r>
            <a:r>
              <a:rPr lang="en-US" dirty="0" err="1"/>
              <a:t>logica</a:t>
            </a:r>
            <a:r>
              <a:rPr lang="en-US" dirty="0"/>
              <a:t> a </a:t>
            </a:r>
            <a:r>
              <a:rPr lang="en-US" dirty="0" err="1"/>
              <a:t>bazei</a:t>
            </a:r>
            <a:r>
              <a:rPr lang="en-US" dirty="0"/>
              <a:t> de date </a:t>
            </a:r>
            <a:r>
              <a:rPr lang="en-US" dirty="0" err="1"/>
              <a:t>si</a:t>
            </a:r>
            <a:r>
              <a:rPr lang="en-US" dirty="0"/>
              <a:t> </a:t>
            </a:r>
            <a:r>
              <a:rPr lang="en-US" dirty="0" err="1"/>
              <a:t>determina</a:t>
            </a:r>
            <a:r>
              <a:rPr lang="en-US" dirty="0"/>
              <a:t> in </a:t>
            </a:r>
            <a:r>
              <a:rPr lang="en-US" dirty="0" err="1"/>
              <a:t>ce</a:t>
            </a:r>
            <a:r>
              <a:rPr lang="en-US" dirty="0"/>
              <a:t> </a:t>
            </a:r>
            <a:r>
              <a:rPr lang="en-US" dirty="0" err="1"/>
              <a:t>maniera</a:t>
            </a:r>
            <a:r>
              <a:rPr lang="en-US" dirty="0"/>
              <a:t> sunt </a:t>
            </a:r>
            <a:r>
              <a:rPr lang="en-US" dirty="0" err="1"/>
              <a:t>stocate</a:t>
            </a:r>
            <a:r>
              <a:rPr lang="en-US" dirty="0"/>
              <a:t>, </a:t>
            </a:r>
            <a:r>
              <a:rPr lang="en-US" dirty="0" err="1"/>
              <a:t>organizate</a:t>
            </a:r>
            <a:r>
              <a:rPr lang="en-US" dirty="0"/>
              <a:t> </a:t>
            </a:r>
            <a:r>
              <a:rPr lang="en-US" dirty="0" err="1"/>
              <a:t>si</a:t>
            </a:r>
            <a:r>
              <a:rPr lang="en-US" dirty="0"/>
              <a:t> manipulate </a:t>
            </a:r>
            <a:r>
              <a:rPr lang="en-US" dirty="0" err="1"/>
              <a:t>datele</a:t>
            </a:r>
            <a:r>
              <a:rPr lang="en-US" dirty="0"/>
              <a:t>. </a:t>
            </a:r>
          </a:p>
        </p:txBody>
      </p:sp>
    </p:spTree>
    <p:extLst>
      <p:ext uri="{BB962C8B-B14F-4D97-AF65-F5344CB8AC3E}">
        <p14:creationId xmlns:p14="http://schemas.microsoft.com/office/powerpoint/2010/main" val="3536480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34E2-A44E-4AA2-9E22-984750A4BBF0}"/>
              </a:ext>
            </a:extLst>
          </p:cNvPr>
          <p:cNvSpPr>
            <a:spLocks noGrp="1"/>
          </p:cNvSpPr>
          <p:nvPr>
            <p:ph type="title"/>
          </p:nvPr>
        </p:nvSpPr>
        <p:spPr>
          <a:xfrm>
            <a:off x="0" y="0"/>
            <a:ext cx="8596668" cy="1320800"/>
          </a:xfrm>
        </p:spPr>
        <p:txBody>
          <a:bodyPr/>
          <a:lstStyle/>
          <a:p>
            <a:r>
              <a:rPr lang="en-US" dirty="0"/>
              <a:t>Mock-ups</a:t>
            </a:r>
          </a:p>
        </p:txBody>
      </p:sp>
      <p:pic>
        <p:nvPicPr>
          <p:cNvPr id="11" name="Content Placeholder 10">
            <a:extLst>
              <a:ext uri="{FF2B5EF4-FFF2-40B4-BE49-F238E27FC236}">
                <a16:creationId xmlns:a16="http://schemas.microsoft.com/office/drawing/2014/main" id="{6360118C-FFF7-4FAB-9CED-3484465FBA3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4886" t="23362" r="22645" b="6177"/>
          <a:stretch/>
        </p:blipFill>
        <p:spPr>
          <a:xfrm>
            <a:off x="207819" y="510456"/>
            <a:ext cx="2967643" cy="3022770"/>
          </a:xfrm>
        </p:spPr>
      </p:pic>
      <p:pic>
        <p:nvPicPr>
          <p:cNvPr id="13" name="Picture 12">
            <a:extLst>
              <a:ext uri="{FF2B5EF4-FFF2-40B4-BE49-F238E27FC236}">
                <a16:creationId xmlns:a16="http://schemas.microsoft.com/office/drawing/2014/main" id="{DBABDA78-4E83-438F-BAC4-6D79F7DF48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4645" y="3862778"/>
            <a:ext cx="8055036" cy="2903782"/>
          </a:xfrm>
          <a:prstGeom prst="rect">
            <a:avLst/>
          </a:prstGeom>
        </p:spPr>
      </p:pic>
      <p:pic>
        <p:nvPicPr>
          <p:cNvPr id="15" name="Picture 14">
            <a:extLst>
              <a:ext uri="{FF2B5EF4-FFF2-40B4-BE49-F238E27FC236}">
                <a16:creationId xmlns:a16="http://schemas.microsoft.com/office/drawing/2014/main" id="{78E4E689-DDB2-43E0-877E-84C3940C35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8631" y="430248"/>
            <a:ext cx="3411050" cy="3183186"/>
          </a:xfrm>
          <a:prstGeom prst="rect">
            <a:avLst/>
          </a:prstGeom>
        </p:spPr>
      </p:pic>
    </p:spTree>
    <p:extLst>
      <p:ext uri="{BB962C8B-B14F-4D97-AF65-F5344CB8AC3E}">
        <p14:creationId xmlns:p14="http://schemas.microsoft.com/office/powerpoint/2010/main" val="3318996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6136F-60C8-42E4-9E2C-CC0BE204C98C}"/>
              </a:ext>
            </a:extLst>
          </p:cNvPr>
          <p:cNvSpPr>
            <a:spLocks noGrp="1"/>
          </p:cNvSpPr>
          <p:nvPr>
            <p:ph type="title"/>
          </p:nvPr>
        </p:nvSpPr>
        <p:spPr/>
        <p:txBody>
          <a:bodyPr/>
          <a:lstStyle/>
          <a:p>
            <a:r>
              <a:rPr lang="en-US" dirty="0" err="1"/>
              <a:t>Portabilitate</a:t>
            </a:r>
            <a:endParaRPr lang="en-US" dirty="0"/>
          </a:p>
        </p:txBody>
      </p:sp>
      <p:sp>
        <p:nvSpPr>
          <p:cNvPr id="3" name="Content Placeholder 2">
            <a:extLst>
              <a:ext uri="{FF2B5EF4-FFF2-40B4-BE49-F238E27FC236}">
                <a16:creationId xmlns:a16="http://schemas.microsoft.com/office/drawing/2014/main" id="{7741A2EF-106B-4BFC-854A-54FFEF65BE7D}"/>
              </a:ext>
            </a:extLst>
          </p:cNvPr>
          <p:cNvSpPr>
            <a:spLocks noGrp="1"/>
          </p:cNvSpPr>
          <p:nvPr>
            <p:ph idx="1"/>
          </p:nvPr>
        </p:nvSpPr>
        <p:spPr/>
        <p:txBody>
          <a:bodyPr/>
          <a:lstStyle/>
          <a:p>
            <a:r>
              <a:rPr lang="en-US" dirty="0" err="1"/>
              <a:t>Aplicatia</a:t>
            </a:r>
            <a:r>
              <a:rPr lang="en-US" dirty="0"/>
              <a:t> </a:t>
            </a:r>
            <a:r>
              <a:rPr lang="en-US" dirty="0" err="1"/>
              <a:t>va</a:t>
            </a:r>
            <a:r>
              <a:rPr lang="en-US" dirty="0"/>
              <a:t> </a:t>
            </a:r>
            <a:r>
              <a:rPr lang="en-US" dirty="0" err="1"/>
              <a:t>putea</a:t>
            </a:r>
            <a:r>
              <a:rPr lang="en-US" dirty="0"/>
              <a:t> fi </a:t>
            </a:r>
            <a:r>
              <a:rPr lang="en-US" dirty="0" err="1"/>
              <a:t>utilizata</a:t>
            </a:r>
            <a:r>
              <a:rPr lang="en-US" dirty="0"/>
              <a:t> de </a:t>
            </a:r>
            <a:r>
              <a:rPr lang="en-US" dirty="0" err="1"/>
              <a:t>oricine</a:t>
            </a:r>
            <a:r>
              <a:rPr lang="en-US" dirty="0"/>
              <a:t> </a:t>
            </a:r>
            <a:r>
              <a:rPr lang="en-US" dirty="0" err="1"/>
              <a:t>isi</a:t>
            </a:r>
            <a:r>
              <a:rPr lang="en-US" dirty="0"/>
              <a:t> face un </a:t>
            </a:r>
            <a:r>
              <a:rPr lang="en-US" dirty="0" err="1"/>
              <a:t>cont</a:t>
            </a:r>
            <a:r>
              <a:rPr lang="en-US" dirty="0"/>
              <a:t> de </a:t>
            </a:r>
            <a:r>
              <a:rPr lang="en-US" dirty="0" err="1"/>
              <a:t>utilizator</a:t>
            </a:r>
            <a:endParaRPr lang="en-US" dirty="0"/>
          </a:p>
          <a:p>
            <a:r>
              <a:rPr lang="en-US" dirty="0" err="1"/>
              <a:t>Conditiile</a:t>
            </a:r>
            <a:r>
              <a:rPr lang="en-US" dirty="0"/>
              <a:t> de </a:t>
            </a:r>
            <a:r>
              <a:rPr lang="en-US" dirty="0" err="1"/>
              <a:t>utilizare</a:t>
            </a:r>
            <a:r>
              <a:rPr lang="en-US" dirty="0"/>
              <a:t> sunt: </a:t>
            </a:r>
            <a:r>
              <a:rPr lang="en-US" dirty="0" err="1"/>
              <a:t>utilizarea</a:t>
            </a:r>
            <a:r>
              <a:rPr lang="en-US" dirty="0"/>
              <a:t> </a:t>
            </a:r>
            <a:r>
              <a:rPr lang="en-US" dirty="0" err="1"/>
              <a:t>unui</a:t>
            </a:r>
            <a:r>
              <a:rPr lang="en-US" dirty="0"/>
              <a:t> browser </a:t>
            </a:r>
            <a:r>
              <a:rPr lang="en-US" dirty="0" err="1"/>
              <a:t>pentru</a:t>
            </a:r>
            <a:r>
              <a:rPr lang="en-US" dirty="0"/>
              <a:t> </a:t>
            </a:r>
            <a:r>
              <a:rPr lang="en-US" dirty="0" err="1"/>
              <a:t>accesarea</a:t>
            </a:r>
            <a:r>
              <a:rPr lang="en-US" dirty="0"/>
              <a:t> site-</a:t>
            </a:r>
            <a:r>
              <a:rPr lang="en-US" dirty="0" err="1"/>
              <a:t>ului</a:t>
            </a:r>
            <a:r>
              <a:rPr lang="en-US" dirty="0"/>
              <a:t> </a:t>
            </a:r>
            <a:r>
              <a:rPr lang="en-US" dirty="0" err="1"/>
              <a:t>si</a:t>
            </a:r>
            <a:r>
              <a:rPr lang="en-US" dirty="0"/>
              <a:t> </a:t>
            </a:r>
            <a:r>
              <a:rPr lang="en-US" dirty="0" err="1"/>
              <a:t>conexiunea</a:t>
            </a:r>
            <a:r>
              <a:rPr lang="en-US" dirty="0"/>
              <a:t> la internet</a:t>
            </a:r>
          </a:p>
          <a:p>
            <a:r>
              <a:rPr lang="en-US" dirty="0" err="1"/>
              <a:t>Aplicatia</a:t>
            </a:r>
            <a:r>
              <a:rPr lang="en-US" dirty="0"/>
              <a:t> </a:t>
            </a:r>
            <a:r>
              <a:rPr lang="en-US" dirty="0" err="1"/>
              <a:t>va</a:t>
            </a:r>
            <a:r>
              <a:rPr lang="en-US" dirty="0"/>
              <a:t> </a:t>
            </a:r>
            <a:r>
              <a:rPr lang="en-US" dirty="0" err="1"/>
              <a:t>putea</a:t>
            </a:r>
            <a:r>
              <a:rPr lang="en-US" dirty="0"/>
              <a:t> fi </a:t>
            </a:r>
            <a:r>
              <a:rPr lang="en-US" dirty="0" err="1"/>
              <a:t>folosita</a:t>
            </a:r>
            <a:r>
              <a:rPr lang="en-US" dirty="0"/>
              <a:t> de pe </a:t>
            </a:r>
            <a:r>
              <a:rPr lang="en-US" dirty="0" err="1"/>
              <a:t>orice</a:t>
            </a:r>
            <a:r>
              <a:rPr lang="en-US" dirty="0"/>
              <a:t> tip de PC </a:t>
            </a:r>
            <a:r>
              <a:rPr lang="en-US" dirty="0" err="1"/>
              <a:t>sau</a:t>
            </a:r>
            <a:r>
              <a:rPr lang="en-US" dirty="0"/>
              <a:t> laptop, cat </a:t>
            </a:r>
            <a:r>
              <a:rPr lang="en-US" dirty="0" err="1"/>
              <a:t>si</a:t>
            </a:r>
            <a:r>
              <a:rPr lang="en-US" dirty="0"/>
              <a:t> de pe device-urile de tip mobile </a:t>
            </a:r>
            <a:r>
              <a:rPr lang="en-US" dirty="0" err="1"/>
              <a:t>datorita</a:t>
            </a:r>
            <a:r>
              <a:rPr lang="en-US" dirty="0"/>
              <a:t> </a:t>
            </a:r>
            <a:r>
              <a:rPr lang="en-US" dirty="0" err="1"/>
              <a:t>platformei</a:t>
            </a:r>
            <a:r>
              <a:rPr lang="en-US" dirty="0"/>
              <a:t> </a:t>
            </a:r>
            <a:r>
              <a:rPr lang="en-US" dirty="0" err="1"/>
              <a:t>Vaadin</a:t>
            </a:r>
            <a:r>
              <a:rPr lang="en-US" dirty="0"/>
              <a:t>, care </a:t>
            </a:r>
            <a:r>
              <a:rPr lang="en-US" dirty="0" err="1"/>
              <a:t>asigura</a:t>
            </a:r>
            <a:r>
              <a:rPr lang="en-US" dirty="0"/>
              <a:t> o </a:t>
            </a:r>
            <a:r>
              <a:rPr lang="en-US" dirty="0" err="1"/>
              <a:t>interfata</a:t>
            </a:r>
            <a:r>
              <a:rPr lang="en-US" dirty="0"/>
              <a:t> </a:t>
            </a:r>
            <a:r>
              <a:rPr lang="en-US" dirty="0" err="1"/>
              <a:t>primitoare</a:t>
            </a:r>
            <a:r>
              <a:rPr lang="en-US" dirty="0"/>
              <a:t> </a:t>
            </a:r>
            <a:r>
              <a:rPr lang="en-US" dirty="0" err="1"/>
              <a:t>pentru</a:t>
            </a:r>
            <a:r>
              <a:rPr lang="en-US" dirty="0"/>
              <a:t> </a:t>
            </a:r>
            <a:r>
              <a:rPr lang="en-US" dirty="0" err="1"/>
              <a:t>toate</a:t>
            </a:r>
            <a:r>
              <a:rPr lang="en-US" dirty="0"/>
              <a:t> </a:t>
            </a:r>
            <a:r>
              <a:rPr lang="en-US" dirty="0" err="1"/>
              <a:t>tipurile</a:t>
            </a:r>
            <a:r>
              <a:rPr lang="en-US" dirty="0"/>
              <a:t> de </a:t>
            </a:r>
            <a:r>
              <a:rPr lang="en-US" dirty="0" err="1"/>
              <a:t>utilizatori</a:t>
            </a:r>
            <a:r>
              <a:rPr lang="en-US" dirty="0"/>
              <a:t>.</a:t>
            </a:r>
          </a:p>
        </p:txBody>
      </p:sp>
    </p:spTree>
    <p:extLst>
      <p:ext uri="{BB962C8B-B14F-4D97-AF65-F5344CB8AC3E}">
        <p14:creationId xmlns:p14="http://schemas.microsoft.com/office/powerpoint/2010/main" val="2957089336"/>
      </p:ext>
    </p:extLst>
  </p:cSld>
  <p:clrMapOvr>
    <a:masterClrMapping/>
  </p:clrMapOvr>
</p:sld>
</file>

<file path=ppt/theme/theme1.xml><?xml version="1.0" encoding="utf-8"?>
<a:theme xmlns:a="http://schemas.openxmlformats.org/drawingml/2006/main" name="Face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514</TotalTime>
  <Words>1529</Words>
  <Application>Microsoft Office PowerPoint</Application>
  <PresentationFormat>Widescreen</PresentationFormat>
  <Paragraphs>61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Times New Roman</vt:lpstr>
      <vt:lpstr>Trebuchet MS</vt:lpstr>
      <vt:lpstr>Wingdings 3</vt:lpstr>
      <vt:lpstr>Facet</vt:lpstr>
      <vt:lpstr>Prezentare Proiect Aeroport si Firma de transporturi aeriene</vt:lpstr>
      <vt:lpstr>Tehnologiile folosite</vt:lpstr>
      <vt:lpstr>Java</vt:lpstr>
      <vt:lpstr>Maven</vt:lpstr>
      <vt:lpstr>Spring</vt:lpstr>
      <vt:lpstr>Vaadin</vt:lpstr>
      <vt:lpstr>MySQL</vt:lpstr>
      <vt:lpstr>Arhitectura si Design-ul Sistemului</vt:lpstr>
      <vt:lpstr>Use case Admin</vt:lpstr>
      <vt:lpstr>Use case Client</vt:lpstr>
      <vt:lpstr>Use case Angajat</vt:lpstr>
      <vt:lpstr>Diagrama generala a sistemului</vt:lpstr>
      <vt:lpstr>Diagrama de clase</vt:lpstr>
      <vt:lpstr>Diagrama de obiecte</vt:lpstr>
      <vt:lpstr>Diagrama de secvente</vt:lpstr>
      <vt:lpstr>Diagrama de activitate</vt:lpstr>
      <vt:lpstr>Diagrama de Tranzitie Stari</vt:lpstr>
      <vt:lpstr>Diagrama de comunicare</vt:lpstr>
      <vt:lpstr>Diagrama de pachete</vt:lpstr>
      <vt:lpstr>Diagrama de desfasurare</vt:lpstr>
      <vt:lpstr>Diagrama bazei de date</vt:lpstr>
      <vt:lpstr>Mock-ups</vt:lpstr>
      <vt:lpstr>Portabilitate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Prezentare Proiect IS</dc:title>
  <dc:creator>Hulea Andrei</dc:creator>
  <cp:lastModifiedBy>Hulea Andrei</cp:lastModifiedBy>
  <cp:revision>29</cp:revision>
  <dcterms:created xsi:type="dcterms:W3CDTF">2020-11-26T14:19:53Z</dcterms:created>
  <dcterms:modified xsi:type="dcterms:W3CDTF">2020-12-03T14:41:23Z</dcterms:modified>
</cp:coreProperties>
</file>